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N3S+2lKEnX/Hapf9ylirsnhzX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1" name="Google Shape;2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53a38787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553a38787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7" name="Google Shape;237;g3553a387871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53a38787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553a387871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8" name="Google Shape;258;g3553a387871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78" name="Google Shape;27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53a3878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553a387871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553a387871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53a38787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53a387871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553a387871_0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53a387871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53a387871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553a387871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62C78D92-3C21-0EC1-DF13-6FF5F02AA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>
            <a:extLst>
              <a:ext uri="{FF2B5EF4-FFF2-40B4-BE49-F238E27FC236}">
                <a16:creationId xmlns:a16="http://schemas.microsoft.com/office/drawing/2014/main" id="{10DFFB7C-80DC-5811-DF19-A1C78B107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1" name="Google Shape;201;p1:notes">
            <a:extLst>
              <a:ext uri="{FF2B5EF4-FFF2-40B4-BE49-F238E27FC236}">
                <a16:creationId xmlns:a16="http://schemas.microsoft.com/office/drawing/2014/main" id="{835866FF-37AE-E597-278E-0DE0F17A3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084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7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7"/>
          <p:cNvSpPr txBox="1"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7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1482A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>
            <a:spLocks noGrp="1"/>
          </p:cNvSpPr>
          <p:nvPr>
            <p:ph type="pic" idx="2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" name="Google Shape;36;p19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>
            <a:spLocks noGrp="1"/>
          </p:cNvSpPr>
          <p:nvPr>
            <p:ph type="pic" idx="2"/>
          </p:nvPr>
        </p:nvSpPr>
        <p:spPr>
          <a:xfrm>
            <a:off x="3516540" y="323829"/>
            <a:ext cx="5859256" cy="3898117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1670050" y="4235450"/>
            <a:ext cx="96012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600"/>
              <a:buFont typeface="Twentieth Century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1670050" y="5524500"/>
            <a:ext cx="9601200" cy="103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marL="914400" lvl="1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900"/>
              <a:buNone/>
              <a:defRPr sz="2900"/>
            </a:lvl2pPr>
            <a:lvl3pPr marL="1371600" lvl="2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900"/>
            </a:lvl3pPr>
            <a:lvl4pPr marL="1828800" lvl="3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900"/>
            </a:lvl4pPr>
            <a:lvl5pPr marL="2286000" lvl="4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900"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>
            <a:spLocks noGrp="1"/>
          </p:cNvSpPr>
          <p:nvPr>
            <p:ph type="pic" idx="2"/>
          </p:nvPr>
        </p:nvSpPr>
        <p:spPr>
          <a:xfrm>
            <a:off x="-82550" y="-323850"/>
            <a:ext cx="12322182" cy="819785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3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1482A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body" idx="1"/>
          </p:nvPr>
        </p:nvSpPr>
        <p:spPr>
          <a:xfrm>
            <a:off x="1797050" y="1930400"/>
            <a:ext cx="9144000" cy="410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body" idx="1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body" idx="2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 b="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2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body" idx="3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 b="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4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marL="1371600" lvl="2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1"/>
          <p:cNvSpPr txBox="1">
            <a:spLocks noGrp="1"/>
          </p:cNvSpPr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91425" rIns="45700" bIns="9142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body" idx="1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Google Shape;104;p41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Inside">
  <p:cSld name="Title - Insid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4ce2b08bf_0_74"/>
          <p:cNvSpPr txBox="1">
            <a:spLocks noGrp="1"/>
          </p:cNvSpPr>
          <p:nvPr>
            <p:ph type="title"/>
          </p:nvPr>
        </p:nvSpPr>
        <p:spPr>
          <a:xfrm>
            <a:off x="1797050" y="2520950"/>
            <a:ext cx="9144000" cy="18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04ce2b08bf_0_74"/>
          <p:cNvSpPr txBox="1">
            <a:spLocks noGrp="1"/>
          </p:cNvSpPr>
          <p:nvPr>
            <p:ph type="sldNum" idx="12"/>
          </p:nvPr>
        </p:nvSpPr>
        <p:spPr>
          <a:xfrm>
            <a:off x="11561947" y="6472872"/>
            <a:ext cx="25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4ce2b08bf_0_77"/>
          <p:cNvSpPr txBox="1">
            <a:spLocks noGrp="1"/>
          </p:cNvSpPr>
          <p:nvPr>
            <p:ph type="body" idx="1"/>
          </p:nvPr>
        </p:nvSpPr>
        <p:spPr>
          <a:xfrm>
            <a:off x="1790700" y="1174750"/>
            <a:ext cx="9144000" cy="4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>
            <a:lvl1pPr marL="457200" lvl="0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•"/>
              <a:defRPr/>
            </a:lvl1pPr>
            <a:lvl2pPr marL="914400" lvl="1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•"/>
              <a:defRPr/>
            </a:lvl2pPr>
            <a:lvl3pPr marL="1371600" lvl="2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•"/>
              <a:defRPr/>
            </a:lvl3pPr>
            <a:lvl4pPr marL="1828800" lvl="3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•"/>
              <a:defRPr/>
            </a:lvl4pPr>
            <a:lvl5pPr marL="2286000" lvl="4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•"/>
              <a:defRPr/>
            </a:lvl5pPr>
            <a:lvl6pPr marL="2743200" lvl="5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?"/>
              <a:defRPr/>
            </a:lvl6pPr>
            <a:lvl7pPr marL="3200400" lvl="6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?"/>
              <a:defRPr/>
            </a:lvl7pPr>
            <a:lvl8pPr marL="3657600" lvl="7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?"/>
              <a:defRPr/>
            </a:lvl8pPr>
            <a:lvl9pPr marL="4114800" lvl="8" indent="-24765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363929"/>
              </a:buClr>
              <a:buSzPts val="300"/>
              <a:buChar char="?"/>
              <a:defRPr/>
            </a:lvl9pPr>
          </a:lstStyle>
          <a:p>
            <a:endParaRPr/>
          </a:p>
        </p:txBody>
      </p:sp>
      <p:sp>
        <p:nvSpPr>
          <p:cNvPr id="110" name="Google Shape;110;g304ce2b08bf_0_77"/>
          <p:cNvSpPr txBox="1">
            <a:spLocks noGrp="1"/>
          </p:cNvSpPr>
          <p:nvPr>
            <p:ph type="sldNum" idx="12"/>
          </p:nvPr>
        </p:nvSpPr>
        <p:spPr>
          <a:xfrm>
            <a:off x="11561947" y="6472872"/>
            <a:ext cx="25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29"/>
              </a:buClr>
              <a:buSzPts val="1400"/>
              <a:buFont typeface="Belleza"/>
              <a:buNone/>
              <a:defRPr sz="14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Open Sans"/>
              <a:buNone/>
              <a:defRPr sz="3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7782" y="100098"/>
            <a:ext cx="1587729" cy="158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2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rgbClr val="B3C6E7">
            <a:alpha val="5490"/>
          </a:srgbClr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3" descr="Light Blue Frame Backgrounds for Powerpoint Templates - PPT Background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42611"/>
            <a:ext cx="12192000" cy="5153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1112" y="141661"/>
            <a:ext cx="798021" cy="79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sz="2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6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8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 txBox="1">
            <a:spLocks noGrp="1"/>
          </p:cNvSpPr>
          <p:nvPr>
            <p:ph type="ctrTitle"/>
          </p:nvPr>
        </p:nvSpPr>
        <p:spPr>
          <a:xfrm>
            <a:off x="0" y="4960125"/>
            <a:ext cx="83763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sz="3600" b="1" u="sng" dirty="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Tools for Training &amp; Technical Assistance</a:t>
            </a:r>
            <a:r>
              <a:rPr lang="en-US" sz="2600" b="1" i="0" u="none" strike="noStrike" dirty="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</a:t>
            </a:r>
            <a:br>
              <a:rPr lang="en-US" sz="2600" b="1" dirty="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-US" sz="2800" b="1" dirty="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Madcap Flare v. Adobe FrameMaker</a:t>
            </a:r>
            <a:endParaRPr sz="2800" b="1" dirty="0"/>
          </a:p>
        </p:txBody>
      </p:sp>
      <p:sp>
        <p:nvSpPr>
          <p:cNvPr id="204" name="Google Shape;204;p1"/>
          <p:cNvSpPr txBox="1">
            <a:spLocks noGrp="1"/>
          </p:cNvSpPr>
          <p:nvPr>
            <p:ph type="subTitle" idx="1"/>
          </p:nvPr>
        </p:nvSpPr>
        <p:spPr>
          <a:xfrm>
            <a:off x="8610600" y="4960137"/>
            <a:ext cx="33147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Open Sans"/>
                <a:ea typeface="Open Sans"/>
                <a:cs typeface="Open Sans"/>
                <a:sym typeface="Open Sans"/>
              </a:rPr>
              <a:t>Anna E. Holt</a:t>
            </a:r>
            <a:endParaRPr sz="20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Open Sans"/>
                <a:ea typeface="Open Sans"/>
                <a:cs typeface="Open Sans"/>
                <a:sym typeface="Open Sans"/>
              </a:rPr>
              <a:t>Tools &amp; Technologies for Technical Writers (2025)</a:t>
            </a:r>
            <a:endParaRPr sz="20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rgbClr val="ABBA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5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3" name="Google Shape;213;p5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41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409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41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41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 w="9525" cap="flat" cmpd="sng">
              <a:solidFill>
                <a:srgbClr val="D3EB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5"/>
          <p:cNvSpPr txBox="1">
            <a:spLocks noGrp="1"/>
          </p:cNvSpPr>
          <p:nvPr>
            <p:ph type="title" idx="4294967295"/>
          </p:nvPr>
        </p:nvSpPr>
        <p:spPr>
          <a:xfrm>
            <a:off x="0" y="139700"/>
            <a:ext cx="114111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556"/>
              <a:buFont typeface="Twentieth Century"/>
              <a:buNone/>
            </a:pPr>
            <a:r>
              <a:rPr lang="en-US">
                <a:solidFill>
                  <a:schemeClr val="dk2"/>
                </a:solidFill>
              </a:rPr>
              <a:t>A Little About Me (Yes This is Relevant!)</a:t>
            </a:r>
            <a:r>
              <a:rPr lang="en-US"/>
              <a:t> 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4217698" y="893257"/>
            <a:ext cx="7745700" cy="1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r>
              <a:rPr lang="en-US" sz="19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endParaRPr sz="190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Career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PreK-12 Research &amp; Evaluation, Non-Profit &amp; Social Services Consulting, Data Governance &amp; Research Ethics</a:t>
            </a:r>
            <a:r>
              <a:rPr lang="en-US" sz="18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Personal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Neurodivergent &amp; Trauma-Informed Care Speaking &amp; Advocacy, Healthcare Patient Advocacy</a:t>
            </a:r>
            <a:endParaRPr sz="180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2" name="Google Shape;222;p5" descr="Anna Ho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650" y="1136725"/>
            <a:ext cx="3750925" cy="45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 txBox="1"/>
          <p:nvPr/>
        </p:nvSpPr>
        <p:spPr>
          <a:xfrm>
            <a:off x="4191573" y="2810779"/>
            <a:ext cx="7745700" cy="4047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Career Search Stats</a:t>
            </a:r>
            <a:r>
              <a:rPr lang="en-US" sz="19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0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endParaRPr sz="19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Targeting</a:t>
            </a: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Training &amp; Technical Assistance/Curriculum Development, Technical Writing Primarily in Health, Biosciences/Cognitive Sciences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Grant Writing in Any Non-Profit or Social Services Sector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800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Some Application Stats (Since Fall 2024)</a:t>
            </a: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First-Round Interviews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 (Maybe Soon 6?) Second-Round Interviews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 Final-Round Interviews (Neither Ultimately Hired Someone)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 Actual Job Offer (Unfortunately with the Federal Government)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 Freelance Curriculum Development/Grant Writing Positions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2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3600" b="1" dirty="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And three things in common…</a:t>
            </a:r>
            <a:endParaRPr sz="3600" b="1" dirty="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"/>
          <p:cNvSpPr/>
          <p:nvPr/>
        </p:nvSpPr>
        <p:spPr>
          <a:xfrm>
            <a:off x="1" y="-2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BBA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3"/>
          </p:nvPr>
        </p:nvSpPr>
        <p:spPr>
          <a:xfrm>
            <a:off x="6732245" y="801225"/>
            <a:ext cx="5380800" cy="1046400"/>
          </a:xfrm>
          <a:prstGeom prst="rect">
            <a:avLst/>
          </a:prstGeom>
        </p:spPr>
        <p:txBody>
          <a:bodyPr spcFirstLastPara="1" wrap="square" lIns="137150" tIns="45700" rIns="13715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Suspected Reasons for This Distribution</a:t>
            </a:r>
            <a:endParaRPr sz="2400" b="1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body" idx="4"/>
          </p:nvPr>
        </p:nvSpPr>
        <p:spPr>
          <a:xfrm>
            <a:off x="6621620" y="2165589"/>
            <a:ext cx="5380800" cy="42501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rmAutofit fontScale="77500" lnSpcReduction="20000"/>
          </a:bodyPr>
          <a:lstStyle/>
          <a:p>
            <a:pPr marL="457200" lvl="0" indent="-349172" algn="l" rtl="0">
              <a:spcBef>
                <a:spcPts val="1200"/>
              </a:spcBef>
              <a:spcAft>
                <a:spcPts val="0"/>
              </a:spcAft>
              <a:buClr>
                <a:srgbClr val="F57A67"/>
              </a:buClr>
              <a:buSzPct val="85965"/>
              <a:buFont typeface="Arial"/>
              <a:buChar char="●"/>
            </a:pPr>
            <a:r>
              <a:rPr lang="en-US" sz="2850">
                <a:latin typeface="Arial"/>
                <a:ea typeface="Arial"/>
                <a:cs typeface="Arial"/>
                <a:sym typeface="Arial"/>
              </a:rPr>
              <a:t>Most of these roles have involved working with frontline service staff, who may have less technology savvy than the software industry.</a:t>
            </a:r>
            <a:endParaRPr sz="285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50">
              <a:latin typeface="Arial"/>
              <a:ea typeface="Arial"/>
              <a:cs typeface="Arial"/>
              <a:sym typeface="Arial"/>
            </a:endParaRPr>
          </a:p>
          <a:p>
            <a:pPr marL="457200" lvl="0" indent="-349172" algn="l" rtl="0">
              <a:spcBef>
                <a:spcPts val="1200"/>
              </a:spcBef>
              <a:spcAft>
                <a:spcPts val="0"/>
              </a:spcAft>
              <a:buClr>
                <a:srgbClr val="F57A67"/>
              </a:buClr>
              <a:buSzPct val="85965"/>
              <a:buFont typeface="Arial"/>
              <a:buChar char="●"/>
            </a:pPr>
            <a:r>
              <a:rPr lang="en-US" sz="2850">
                <a:latin typeface="Arial"/>
                <a:ea typeface="Arial"/>
                <a:cs typeface="Arial"/>
                <a:sym typeface="Arial"/>
              </a:rPr>
              <a:t>Many of these roles require formal sourcing and purchase orders for all tools, favoring established distributors with wide familiarity among users &amp; established protocols.</a:t>
            </a:r>
            <a:endParaRPr sz="285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50">
              <a:latin typeface="Arial"/>
              <a:ea typeface="Arial"/>
              <a:cs typeface="Arial"/>
              <a:sym typeface="Arial"/>
            </a:endParaRPr>
          </a:p>
          <a:p>
            <a:pPr marL="457200" lvl="0" indent="-349172" algn="l" rtl="0">
              <a:spcBef>
                <a:spcPts val="1200"/>
              </a:spcBef>
              <a:spcAft>
                <a:spcPts val="0"/>
              </a:spcAft>
              <a:buClr>
                <a:srgbClr val="F57A67"/>
              </a:buClr>
              <a:buSzPct val="85965"/>
              <a:buFont typeface="Arial"/>
              <a:buChar char="●"/>
            </a:pPr>
            <a:r>
              <a:rPr lang="en-US" sz="2850">
                <a:latin typeface="Arial"/>
                <a:ea typeface="Arial"/>
                <a:cs typeface="Arial"/>
                <a:sym typeface="Arial"/>
              </a:rPr>
              <a:t>These tool providers have made bulk licenses available to nonprofits, K-12, or government purchasers in the past.</a:t>
            </a:r>
            <a:endParaRPr/>
          </a:p>
        </p:txBody>
      </p:sp>
      <p:sp>
        <p:nvSpPr>
          <p:cNvPr id="231" name="Google Shape;231;p3"/>
          <p:cNvSpPr txBox="1">
            <a:spLocks noGrp="1"/>
          </p:cNvSpPr>
          <p:nvPr>
            <p:ph type="body" idx="3"/>
          </p:nvPr>
        </p:nvSpPr>
        <p:spPr>
          <a:xfrm>
            <a:off x="228595" y="901800"/>
            <a:ext cx="5380800" cy="1046400"/>
          </a:xfrm>
          <a:prstGeom prst="rect">
            <a:avLst/>
          </a:prstGeom>
        </p:spPr>
        <p:txBody>
          <a:bodyPr spcFirstLastPara="1" wrap="square" lIns="137150" tIns="45700" rIns="137150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% of Recent Applicable Job Descriptions Referencing a Tool Covered in Class</a:t>
            </a:r>
            <a:endParaRPr sz="2400" b="1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2" name="Google Shape;232;p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53000"/>
            <a:ext cx="6240621" cy="385878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 txBox="1"/>
          <p:nvPr/>
        </p:nvSpPr>
        <p:spPr>
          <a:xfrm>
            <a:off x="0" y="0"/>
            <a:ext cx="121920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Most Referenced Tools Across All Contender Jobs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A0EE799-146B-2248-D0CA-E1AB6B8CBE43}"/>
              </a:ext>
            </a:extLst>
          </p:cNvPr>
          <p:cNvSpPr/>
          <p:nvPr/>
        </p:nvSpPr>
        <p:spPr>
          <a:xfrm>
            <a:off x="156754" y="2756263"/>
            <a:ext cx="6466115" cy="126709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53a387871_0_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553a387871_0_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BBA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g3553a387871_0_21"/>
          <p:cNvGrpSpPr/>
          <p:nvPr/>
        </p:nvGrpSpPr>
        <p:grpSpPr>
          <a:xfrm>
            <a:off x="3438850" y="1229021"/>
            <a:ext cx="5711883" cy="4271400"/>
            <a:chOff x="0" y="1334103"/>
            <a:chExt cx="7559400" cy="4951200"/>
          </a:xfrm>
        </p:grpSpPr>
        <p:sp>
          <p:nvSpPr>
            <p:cNvPr id="242" name="Google Shape;242;g3553a387871_0_21"/>
            <p:cNvSpPr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solidFill>
              <a:srgbClr val="CCD3EA">
                <a:alpha val="89410"/>
              </a:srgbClr>
            </a:solidFill>
            <a:ln w="12700" cap="flat" cmpd="sng">
              <a:solidFill>
                <a:srgbClr val="CCD3EA">
                  <a:alpha val="894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553a387871_0_21"/>
            <p:cNvSpPr txBox="1"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99125" bIns="22402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4" name="Google Shape;244;g3553a387871_0_21"/>
          <p:cNvGrpSpPr/>
          <p:nvPr/>
        </p:nvGrpSpPr>
        <p:grpSpPr>
          <a:xfrm>
            <a:off x="2739677" y="1549195"/>
            <a:ext cx="6712641" cy="3759592"/>
            <a:chOff x="0" y="0"/>
            <a:chExt cx="6393600" cy="4121456"/>
          </a:xfrm>
        </p:grpSpPr>
        <p:sp>
          <p:nvSpPr>
            <p:cNvPr id="245" name="Google Shape;245;g3553a387871_0_21"/>
            <p:cNvSpPr/>
            <p:nvPr/>
          </p:nvSpPr>
          <p:spPr>
            <a:xfrm rot="-299984">
              <a:off x="19561" y="1696918"/>
              <a:ext cx="6354478" cy="727559"/>
            </a:xfrm>
            <a:prstGeom prst="mathMinus">
              <a:avLst>
                <a:gd name="adj1" fmla="val 23520"/>
              </a:avLst>
            </a:prstGeom>
            <a:solidFill>
              <a:srgbClr val="ABBAD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553a387871_0_21"/>
            <p:cNvSpPr/>
            <p:nvPr/>
          </p:nvSpPr>
          <p:spPr>
            <a:xfrm>
              <a:off x="767232" y="206073"/>
              <a:ext cx="1918200" cy="16485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990000"/>
            </a:solidFill>
            <a:ln w="12700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553a387871_0_21"/>
            <p:cNvSpPr/>
            <p:nvPr/>
          </p:nvSpPr>
          <p:spPr>
            <a:xfrm>
              <a:off x="2562280" y="0"/>
              <a:ext cx="3698700" cy="17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553a387871_0_21"/>
            <p:cNvSpPr txBox="1"/>
            <p:nvPr/>
          </p:nvSpPr>
          <p:spPr>
            <a:xfrm>
              <a:off x="2562280" y="0"/>
              <a:ext cx="3698700" cy="17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450" tIns="156450" rIns="156450" bIns="15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r>
                <a:rPr lang="en-US" sz="2200" b="1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Adobe Products</a:t>
              </a:r>
              <a:endParaRPr sz="2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457200" marR="0" lvl="0" indent="-3683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Char char="-"/>
              </a:pPr>
              <a:r>
                <a:rPr lang="en-US" sz="2200" b="1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InDesign</a:t>
              </a:r>
              <a:endParaRPr sz="2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457200" marR="0" lvl="0" indent="-3683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Char char="-"/>
              </a:pPr>
              <a:r>
                <a:rPr lang="en-US" sz="2200" b="1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Illustrator</a:t>
              </a:r>
              <a:endParaRPr sz="2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457200" marR="0" lvl="0" indent="-3683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Char char="-"/>
              </a:pPr>
              <a:r>
                <a:rPr lang="en-US" sz="2200" b="1" i="1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Framemaker!</a:t>
              </a:r>
              <a:endParaRPr sz="2200" b="1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g3553a387871_0_21"/>
            <p:cNvSpPr/>
            <p:nvPr/>
          </p:nvSpPr>
          <p:spPr>
            <a:xfrm>
              <a:off x="3708290" y="2266812"/>
              <a:ext cx="1918200" cy="1648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553a387871_0_21"/>
            <p:cNvSpPr/>
            <p:nvPr/>
          </p:nvSpPr>
          <p:spPr>
            <a:xfrm>
              <a:off x="144976" y="2390456"/>
              <a:ext cx="3674100" cy="17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553a387871_0_21"/>
            <p:cNvSpPr txBox="1"/>
            <p:nvPr/>
          </p:nvSpPr>
          <p:spPr>
            <a:xfrm>
              <a:off x="144976" y="2390456"/>
              <a:ext cx="3674100" cy="17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450" tIns="156450" rIns="156450" bIns="15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r>
                <a:rPr lang="en-US" sz="2200" b="1" i="1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Madcap Flare</a:t>
              </a:r>
              <a:endParaRPr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2" name="Google Shape;252;g3553a387871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575" y="4736225"/>
            <a:ext cx="3156300" cy="16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553a387871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2950" y="1019150"/>
            <a:ext cx="2442075" cy="27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553a387871_0_2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>
                <a:solidFill>
                  <a:schemeClr val="dk2"/>
                </a:solidFill>
              </a:rPr>
              <a:t>Picking a Favorite (That Has Better Version Control)</a:t>
            </a:r>
            <a:endParaRPr sz="36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wah-wah-sad-trombone-Anna">
            <a:hlinkClick r:id="" action="ppaction://media"/>
            <a:extLst>
              <a:ext uri="{FF2B5EF4-FFF2-40B4-BE49-F238E27FC236}">
                <a16:creationId xmlns:a16="http://schemas.microsoft.com/office/drawing/2014/main" id="{ACB4C426-A5C8-0B6E-E3D6-6560BAA65D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47507" y="4469674"/>
            <a:ext cx="1119051" cy="1119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53a387871_0_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553a387871_0_74"/>
          <p:cNvSpPr/>
          <p:nvPr/>
        </p:nvSpPr>
        <p:spPr>
          <a:xfrm>
            <a:off x="1" y="-2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BBA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553a387871_0_74"/>
          <p:cNvSpPr txBox="1"/>
          <p:nvPr/>
        </p:nvSpPr>
        <p:spPr>
          <a:xfrm>
            <a:off x="0" y="0"/>
            <a:ext cx="12192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Advantages of Alternatives to MS Office (For Me!)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53a387871_0_74"/>
          <p:cNvSpPr/>
          <p:nvPr/>
        </p:nvSpPr>
        <p:spPr>
          <a:xfrm>
            <a:off x="6212300" y="1158475"/>
            <a:ext cx="5910600" cy="5639100"/>
          </a:xfrm>
          <a:prstGeom prst="rect">
            <a:avLst/>
          </a:prstGeom>
          <a:solidFill>
            <a:srgbClr val="F57A67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g3553a387871_0_74"/>
          <p:cNvGrpSpPr/>
          <p:nvPr/>
        </p:nvGrpSpPr>
        <p:grpSpPr>
          <a:xfrm>
            <a:off x="6311663" y="1293228"/>
            <a:ext cx="5711883" cy="5363635"/>
            <a:chOff x="0" y="1334103"/>
            <a:chExt cx="7559400" cy="4951200"/>
          </a:xfrm>
        </p:grpSpPr>
        <p:sp>
          <p:nvSpPr>
            <p:cNvPr id="265" name="Google Shape;265;g3553a387871_0_74"/>
            <p:cNvSpPr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solidFill>
              <a:srgbClr val="CCD3EA">
                <a:alpha val="89410"/>
              </a:srgbClr>
            </a:solidFill>
            <a:ln w="12700" cap="flat" cmpd="sng">
              <a:solidFill>
                <a:srgbClr val="CCD3EA">
                  <a:alpha val="894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553a387871_0_74"/>
            <p:cNvSpPr txBox="1"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99125" bIns="22402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7" name="Google Shape;267;g3553a387871_0_74"/>
          <p:cNvSpPr/>
          <p:nvPr/>
        </p:nvSpPr>
        <p:spPr>
          <a:xfrm>
            <a:off x="52525" y="1158475"/>
            <a:ext cx="5910600" cy="5639100"/>
          </a:xfrm>
          <a:prstGeom prst="rect">
            <a:avLst/>
          </a:prstGeom>
          <a:solidFill>
            <a:srgbClr val="F57A67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g3553a387871_0_74"/>
          <p:cNvGrpSpPr/>
          <p:nvPr/>
        </p:nvGrpSpPr>
        <p:grpSpPr>
          <a:xfrm>
            <a:off x="151888" y="1293229"/>
            <a:ext cx="5711883" cy="5363635"/>
            <a:chOff x="0" y="1334103"/>
            <a:chExt cx="7559400" cy="4951200"/>
          </a:xfrm>
        </p:grpSpPr>
        <p:sp>
          <p:nvSpPr>
            <p:cNvPr id="269" name="Google Shape;269;g3553a387871_0_74"/>
            <p:cNvSpPr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solidFill>
              <a:srgbClr val="CCD3EA">
                <a:alpha val="89410"/>
              </a:srgbClr>
            </a:solidFill>
            <a:ln w="12700" cap="flat" cmpd="sng">
              <a:solidFill>
                <a:srgbClr val="CCD3EA">
                  <a:alpha val="894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553a387871_0_74"/>
            <p:cNvSpPr txBox="1"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99125" bIns="22402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71" name="Google Shape;271;g3553a387871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00" y="1293225"/>
            <a:ext cx="2644050" cy="1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553a387871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1675" y="1293225"/>
            <a:ext cx="1232297" cy="1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553a387871_0_74"/>
          <p:cNvSpPr txBox="1"/>
          <p:nvPr/>
        </p:nvSpPr>
        <p:spPr>
          <a:xfrm>
            <a:off x="312863" y="2745175"/>
            <a:ext cx="5550900" cy="4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Reusable content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 read legacy content from other authoring tools (especially Word &amp; Salesforce!)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Better version control (including a single-source master user)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Isn’t propriety about output formatting (including well-formatted pdfs)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Better for blogs and web content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Also integrates directly with major project management suites (e.g. Jira)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Looks good on a train (adapted for mobile and tablet usage)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g3553a387871_0_74"/>
          <p:cNvSpPr txBox="1"/>
          <p:nvPr/>
        </p:nvSpPr>
        <p:spPr>
          <a:xfrm>
            <a:off x="6472650" y="2629575"/>
            <a:ext cx="55509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Reusable content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More robust graphics support (and I am terrible at picture formatting in html-like products)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Built-in screen-reader support that has more help available (since I target disabilities and neurodiverse audiences)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Runs fast with multiple documents open &amp; very large files (which often happens with detailed pictures or custom diagrams)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My fields are as dated as Framemaker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My fields still put out printed conference materials and other “book formats”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1" y="-2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BBA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0" y="0"/>
            <a:ext cx="121920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Disadvantages of Alternatives to MS Office (For Me!)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212300" y="1158475"/>
            <a:ext cx="5910600" cy="5639100"/>
          </a:xfrm>
          <a:prstGeom prst="rect">
            <a:avLst/>
          </a:prstGeom>
          <a:solidFill>
            <a:srgbClr val="F57A67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7"/>
          <p:cNvGrpSpPr/>
          <p:nvPr/>
        </p:nvGrpSpPr>
        <p:grpSpPr>
          <a:xfrm>
            <a:off x="6311663" y="1293228"/>
            <a:ext cx="5711883" cy="5363635"/>
            <a:chOff x="0" y="1334103"/>
            <a:chExt cx="7559400" cy="4951200"/>
          </a:xfrm>
        </p:grpSpPr>
        <p:sp>
          <p:nvSpPr>
            <p:cNvPr id="285" name="Google Shape;285;p7"/>
            <p:cNvSpPr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solidFill>
              <a:srgbClr val="CCD3EA">
                <a:alpha val="89410"/>
              </a:srgbClr>
            </a:solidFill>
            <a:ln w="12700" cap="flat" cmpd="sng">
              <a:solidFill>
                <a:srgbClr val="CCD3EA">
                  <a:alpha val="894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 txBox="1"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99125" bIns="22402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7" name="Google Shape;287;p7"/>
          <p:cNvSpPr/>
          <p:nvPr/>
        </p:nvSpPr>
        <p:spPr>
          <a:xfrm>
            <a:off x="52525" y="1158475"/>
            <a:ext cx="5910600" cy="5639100"/>
          </a:xfrm>
          <a:prstGeom prst="rect">
            <a:avLst/>
          </a:prstGeom>
          <a:solidFill>
            <a:srgbClr val="F57A67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p7"/>
          <p:cNvGrpSpPr/>
          <p:nvPr/>
        </p:nvGrpSpPr>
        <p:grpSpPr>
          <a:xfrm>
            <a:off x="151888" y="1293229"/>
            <a:ext cx="5711883" cy="5363635"/>
            <a:chOff x="0" y="1334103"/>
            <a:chExt cx="7559400" cy="4951200"/>
          </a:xfrm>
        </p:grpSpPr>
        <p:sp>
          <p:nvSpPr>
            <p:cNvPr id="289" name="Google Shape;289;p7"/>
            <p:cNvSpPr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solidFill>
              <a:srgbClr val="CCD3EA">
                <a:alpha val="89410"/>
              </a:srgbClr>
            </a:solidFill>
            <a:ln w="12700" cap="flat" cmpd="sng">
              <a:solidFill>
                <a:srgbClr val="CCD3EA">
                  <a:alpha val="894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"/>
            <p:cNvSpPr txBox="1"/>
            <p:nvPr/>
          </p:nvSpPr>
          <p:spPr>
            <a:xfrm>
              <a:off x="0" y="1334103"/>
              <a:ext cx="7559400" cy="49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350" tIns="149350" rIns="199125" bIns="22402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91" name="Google Shape;29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00" y="1293225"/>
            <a:ext cx="2644050" cy="1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1675" y="1293225"/>
            <a:ext cx="1232297" cy="1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151900" y="2720175"/>
            <a:ext cx="5712000" cy="4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Very expensive for a single license even for one tech writer ($2k) &amp; in the current administration not a write-off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Currently, does not directly integrate with Adobe products or Canva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Software updating is frequent and may disrupt workflows (already have had to fully update it once just between initial install for homework and this project to the 2025 version)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reddit suggests that “those who know” Madcap Flare vs. “think they know” can really mismanage a product. Steep learning curve!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Unintuitive error feedback &amp; need to code to error fix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6311675" y="2629575"/>
            <a:ext cx="57120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While the Adobe Creative Cloud suite is comparatively affordable (as low as $13.99 per product, or $399/year for my target orgs), </a:t>
            </a:r>
            <a:r>
              <a:rPr lang="en-US" sz="18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Framemaker</a:t>
            </a: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itself is not included!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 be less well integrated with non-Adobe or Word products. IT is part of project management and Tr./Tech Asst. Leaving them behind exacerbates the “silo effects” of education fields historically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While my fields are slow to adopt tech, FrameMaker itself is weaker on xml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Harder to send out ‘review copies’ for comments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2946325" y="1448025"/>
            <a:ext cx="27351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 available on mac!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7800050" y="1448025"/>
            <a:ext cx="27351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 available on mac!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BD9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Open Sans"/>
                <a:ea typeface="Open Sans"/>
                <a:cs typeface="Open Sans"/>
                <a:sym typeface="Open Sans"/>
              </a:rPr>
              <a:t>So Why Pick Madcap Flare?</a:t>
            </a:r>
            <a:endParaRPr sz="36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53a387871_0_97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Open Sans"/>
                <a:ea typeface="Open Sans"/>
                <a:cs typeface="Open Sans"/>
                <a:sym typeface="Open Sans"/>
              </a:rPr>
              <a:t>I don’t think fluently in HTML yet, but I like to know it’s there!</a:t>
            </a:r>
            <a:endParaRPr sz="3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g3553a387871_0_97"/>
          <p:cNvSpPr>
            <a:spLocks noGrp="1"/>
          </p:cNvSpPr>
          <p:nvPr>
            <p:ph type="pic" idx="2"/>
          </p:nvPr>
        </p:nvSpPr>
        <p:spPr>
          <a:xfrm>
            <a:off x="0" y="-1"/>
            <a:ext cx="12189000" cy="4572000"/>
          </a:xfrm>
          <a:prstGeom prst="rect">
            <a:avLst/>
          </a:prstGeom>
        </p:spPr>
      </p:sp>
      <p:pic>
        <p:nvPicPr>
          <p:cNvPr id="309" name="Google Shape;309;g3553a387871_0_97" title="HTML in the middle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853" b="14853"/>
          <a:stretch/>
        </p:blipFill>
        <p:spPr>
          <a:xfrm>
            <a:off x="673725" y="252137"/>
            <a:ext cx="10844551" cy="4067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53a387871_0_107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Open Sans"/>
                <a:ea typeface="Open Sans"/>
                <a:cs typeface="Open Sans"/>
                <a:sym typeface="Open Sans"/>
              </a:rPr>
              <a:t>Editing tables feels less clunky and more like Excel or stats software</a:t>
            </a:r>
            <a:endParaRPr sz="3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g3553a387871_0_107"/>
          <p:cNvSpPr>
            <a:spLocks noGrp="1"/>
          </p:cNvSpPr>
          <p:nvPr>
            <p:ph type="pic" idx="2"/>
          </p:nvPr>
        </p:nvSpPr>
        <p:spPr>
          <a:xfrm>
            <a:off x="0" y="-1"/>
            <a:ext cx="12189000" cy="4572000"/>
          </a:xfrm>
          <a:prstGeom prst="rect">
            <a:avLst/>
          </a:prstGeom>
          <a:ln w="9525" cap="flat" cmpd="sng">
            <a:solidFill>
              <a:srgbClr val="D3EBD9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17" name="Google Shape;317;g3553a387871_0_107" title="ADHD Meetup Group Ru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25064"/>
            <a:ext cx="7772400" cy="4521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53a387871_0_114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Open Sans"/>
                <a:ea typeface="Open Sans"/>
                <a:cs typeface="Open Sans"/>
                <a:sym typeface="Open Sans"/>
              </a:rPr>
              <a:t>I’m looking for something beyond Wordpress to stand out from the job search crowd</a:t>
            </a:r>
            <a:endParaRPr sz="3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g3553a387871_0_114"/>
          <p:cNvSpPr>
            <a:spLocks noGrp="1"/>
          </p:cNvSpPr>
          <p:nvPr>
            <p:ph type="pic" idx="2"/>
          </p:nvPr>
        </p:nvSpPr>
        <p:spPr>
          <a:xfrm>
            <a:off x="0" y="-1"/>
            <a:ext cx="12189000" cy="4572000"/>
          </a:xfrm>
          <a:prstGeom prst="rect">
            <a:avLst/>
          </a:prstGeom>
        </p:spPr>
      </p:sp>
      <p:pic>
        <p:nvPicPr>
          <p:cNvPr id="325" name="Google Shape;325;g3553a387871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50" y="311100"/>
            <a:ext cx="7270800" cy="38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553a387871_0_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175" y="558188"/>
            <a:ext cx="4631550" cy="35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3FCBC6FC-609F-CD23-8747-2E07CEF4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>
            <a:extLst>
              <a:ext uri="{FF2B5EF4-FFF2-40B4-BE49-F238E27FC236}">
                <a16:creationId xmlns:a16="http://schemas.microsoft.com/office/drawing/2014/main" id="{062A5BDA-EC3F-AEA1-ABDB-09E43B65840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960125"/>
            <a:ext cx="83763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sz="3600" b="1" u="sng" dirty="0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Thank you, Zoë and Chuck!</a:t>
            </a:r>
            <a:r>
              <a:rPr lang="en-US" sz="2600" b="1" i="0" u="none" strike="noStrike" dirty="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</a:t>
            </a:r>
            <a:br>
              <a:rPr lang="en-US" sz="2600" b="1" dirty="0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-US" sz="2800" b="1" dirty="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Best wishes everyone for future career success</a:t>
            </a:r>
            <a:endParaRPr sz="2800" b="1" dirty="0"/>
          </a:p>
        </p:txBody>
      </p:sp>
      <p:sp>
        <p:nvSpPr>
          <p:cNvPr id="204" name="Google Shape;204;p1">
            <a:extLst>
              <a:ext uri="{FF2B5EF4-FFF2-40B4-BE49-F238E27FC236}">
                <a16:creationId xmlns:a16="http://schemas.microsoft.com/office/drawing/2014/main" id="{7A2E9EB8-7530-E57E-D308-A88EAAD42F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16983" y="4960137"/>
            <a:ext cx="3579223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Open Sans"/>
                <a:ea typeface="Open Sans"/>
                <a:cs typeface="Open Sans"/>
                <a:sym typeface="Open Sans"/>
              </a:rPr>
              <a:t>My email to keep in touch: aemholt@gmail.com</a:t>
            </a:r>
            <a:endParaRPr sz="20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85664307"/>
      </p:ext>
    </p:extLst>
  </p:cSld>
  <p:clrMapOvr>
    <a:masterClrMapping/>
  </p:clrMapOvr>
</p:sld>
</file>

<file path=ppt/theme/theme1.xml><?xml version="1.0" encoding="utf-8"?>
<a:theme xmlns:a="http://schemas.openxmlformats.org/drawingml/2006/main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723</Words>
  <Application>Microsoft Office PowerPoint</Application>
  <PresentationFormat>Widescreen</PresentationFormat>
  <Paragraphs>73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</vt:lpstr>
      <vt:lpstr>Belleza</vt:lpstr>
      <vt:lpstr>Open Sans Light</vt:lpstr>
      <vt:lpstr>Twentieth Century</vt:lpstr>
      <vt:lpstr>Arial</vt:lpstr>
      <vt:lpstr>Calibri</vt:lpstr>
      <vt:lpstr>Integral</vt:lpstr>
      <vt:lpstr>Office Theme</vt:lpstr>
      <vt:lpstr>Tools for Training &amp; Technical Assistance: Madcap Flare v. Adobe FrameMaker</vt:lpstr>
      <vt:lpstr>A Little About Me (Yes This is Relevant!) </vt:lpstr>
      <vt:lpstr>PowerPoint Presentation</vt:lpstr>
      <vt:lpstr>Picking a Favorite (That Has Better Version Control)</vt:lpstr>
      <vt:lpstr>PowerPoint Presentation</vt:lpstr>
      <vt:lpstr>PowerPoint Presentation</vt:lpstr>
      <vt:lpstr>So Why Pick Madcap Flare?</vt:lpstr>
      <vt:lpstr>I don’t think fluently in HTML yet, but I like to know it’s there!</vt:lpstr>
      <vt:lpstr>Editing tables feels less clunky and more like Excel or stats software</vt:lpstr>
      <vt:lpstr>I’m looking for something beyond Wordpress to stand out from the job search crowd</vt:lpstr>
      <vt:lpstr>Thank you, Zoë and Chuck!: Best wishes everyone for future career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Editor</dc:creator>
  <cp:lastModifiedBy>Anna Holt</cp:lastModifiedBy>
  <cp:revision>14</cp:revision>
  <dcterms:created xsi:type="dcterms:W3CDTF">2023-11-08T01:06:55Z</dcterms:created>
  <dcterms:modified xsi:type="dcterms:W3CDTF">2025-05-08T22:23:34Z</dcterms:modified>
</cp:coreProperties>
</file>