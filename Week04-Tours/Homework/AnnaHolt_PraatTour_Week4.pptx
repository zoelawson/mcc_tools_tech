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6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04" autoAdjust="0"/>
  </p:normalViewPr>
  <p:slideViewPr>
    <p:cSldViewPr snapToGrid="0">
      <p:cViewPr varScale="1">
        <p:scale>
          <a:sx n="106" d="100"/>
          <a:sy n="106" d="100"/>
        </p:scale>
        <p:origin x="732" y="9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65DA-1890-4E65-A265-A36DBEA0BFF7}" type="slidenum">
              <a:rPr lang="en-US" smtClean="0"/>
              <a:t>‹#›</a:t>
            </a:fld>
            <a:endParaRPr lang="en-US" dirty="0"/>
          </a:p>
        </p:txBody>
      </p:sp>
    </p:spTree>
    <p:extLst>
      <p:ext uri="{BB962C8B-B14F-4D97-AF65-F5344CB8AC3E}">
        <p14:creationId xmlns:p14="http://schemas.microsoft.com/office/powerpoint/2010/main" val="353295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65DA-1890-4E65-A265-A36DBEA0BFF7}" type="slidenum">
              <a:rPr lang="en-US" smtClean="0"/>
              <a:t>‹#›</a:t>
            </a:fld>
            <a:endParaRPr lang="en-US" dirty="0"/>
          </a:p>
        </p:txBody>
      </p:sp>
    </p:spTree>
    <p:extLst>
      <p:ext uri="{BB962C8B-B14F-4D97-AF65-F5344CB8AC3E}">
        <p14:creationId xmlns:p14="http://schemas.microsoft.com/office/powerpoint/2010/main" val="223027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65DA-1890-4E65-A265-A36DBEA0BFF7}" type="slidenum">
              <a:rPr lang="en-US" smtClean="0"/>
              <a:t>‹#›</a:t>
            </a:fld>
            <a:endParaRPr lang="en-US" dirty="0"/>
          </a:p>
        </p:txBody>
      </p:sp>
    </p:spTree>
    <p:extLst>
      <p:ext uri="{BB962C8B-B14F-4D97-AF65-F5344CB8AC3E}">
        <p14:creationId xmlns:p14="http://schemas.microsoft.com/office/powerpoint/2010/main" val="2354295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7265DA-1890-4E65-A265-A36DBEA0BFF7}" type="slidenum">
              <a:rPr lang="en-US" smtClean="0"/>
              <a:t>‹#›</a:t>
            </a:fld>
            <a:endParaRPr lang="en-US" dirty="0"/>
          </a:p>
        </p:txBody>
      </p:sp>
    </p:spTree>
    <p:extLst>
      <p:ext uri="{BB962C8B-B14F-4D97-AF65-F5344CB8AC3E}">
        <p14:creationId xmlns:p14="http://schemas.microsoft.com/office/powerpoint/2010/main" val="3179947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07265DA-1890-4E65-A265-A36DBEA0BFF7}" type="slidenum">
              <a:rPr lang="en-US" smtClean="0"/>
              <a:t>‹#›</a:t>
            </a:fld>
            <a:endParaRPr lang="en-US" dirty="0"/>
          </a:p>
        </p:txBody>
      </p:sp>
    </p:spTree>
    <p:extLst>
      <p:ext uri="{BB962C8B-B14F-4D97-AF65-F5344CB8AC3E}">
        <p14:creationId xmlns:p14="http://schemas.microsoft.com/office/powerpoint/2010/main" val="3983919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07265DA-1890-4E65-A265-A36DBEA0BFF7}" type="slidenum">
              <a:rPr lang="en-US" smtClean="0"/>
              <a:t>‹#›</a:t>
            </a:fld>
            <a:endParaRPr lang="en-US" dirty="0"/>
          </a:p>
        </p:txBody>
      </p:sp>
    </p:spTree>
    <p:extLst>
      <p:ext uri="{BB962C8B-B14F-4D97-AF65-F5344CB8AC3E}">
        <p14:creationId xmlns:p14="http://schemas.microsoft.com/office/powerpoint/2010/main" val="4170955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07265DA-1890-4E65-A265-A36DBEA0BFF7}" type="slidenum">
              <a:rPr lang="en-US" smtClean="0"/>
              <a:t>‹#›</a:t>
            </a:fld>
            <a:endParaRPr lang="en-US" dirty="0"/>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61882" y="0"/>
            <a:ext cx="8068235" cy="6858000"/>
          </a:xfrm>
          <a:prstGeom prst="rect">
            <a:avLst/>
          </a:prstGeom>
        </p:spPr>
      </p:pic>
    </p:spTree>
    <p:extLst>
      <p:ext uri="{BB962C8B-B14F-4D97-AF65-F5344CB8AC3E}">
        <p14:creationId xmlns:p14="http://schemas.microsoft.com/office/powerpoint/2010/main" val="149565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7265DA-1890-4E65-A265-A36DBEA0BFF7}" type="slidenum">
              <a:rPr lang="en-US" smtClean="0"/>
              <a:t>‹#›</a:t>
            </a:fld>
            <a:endParaRPr lang="en-US" dirty="0"/>
          </a:p>
        </p:txBody>
      </p:sp>
    </p:spTree>
    <p:extLst>
      <p:ext uri="{BB962C8B-B14F-4D97-AF65-F5344CB8AC3E}">
        <p14:creationId xmlns:p14="http://schemas.microsoft.com/office/powerpoint/2010/main" val="3713314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07265DA-1890-4E65-A265-A36DBEA0BFF7}" type="slidenum">
              <a:rPr lang="en-US" smtClean="0"/>
              <a:t>‹#›</a:t>
            </a:fld>
            <a:endParaRPr lang="en-US" dirty="0"/>
          </a:p>
        </p:txBody>
      </p:sp>
    </p:spTree>
    <p:extLst>
      <p:ext uri="{BB962C8B-B14F-4D97-AF65-F5344CB8AC3E}">
        <p14:creationId xmlns:p14="http://schemas.microsoft.com/office/powerpoint/2010/main" val="4183756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65DA-1890-4E65-A265-A36DBEA0BFF7}" type="slidenum">
              <a:rPr lang="en-US" smtClean="0"/>
              <a:t>‹#›</a:t>
            </a:fld>
            <a:endParaRPr lang="en-US" dirty="0"/>
          </a:p>
        </p:txBody>
      </p:sp>
    </p:spTree>
    <p:extLst>
      <p:ext uri="{BB962C8B-B14F-4D97-AF65-F5344CB8AC3E}">
        <p14:creationId xmlns:p14="http://schemas.microsoft.com/office/powerpoint/2010/main" val="607131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8862F2C-12C1-455F-815A-C164D68E1F7B}" type="datetimeFigureOut">
              <a:rPr lang="en-US" smtClean="0"/>
              <a:t>3/2/2025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07265DA-1890-4E65-A265-A36DBEA0BFF7}" type="slidenum">
              <a:rPr lang="en-US" smtClean="0"/>
              <a:t>‹#›</a:t>
            </a:fld>
            <a:endParaRPr lang="en-US" dirty="0"/>
          </a:p>
        </p:txBody>
      </p:sp>
    </p:spTree>
    <p:extLst>
      <p:ext uri="{BB962C8B-B14F-4D97-AF65-F5344CB8AC3E}">
        <p14:creationId xmlns:p14="http://schemas.microsoft.com/office/powerpoint/2010/main" val="108076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862F2C-12C1-455F-815A-C164D68E1F7B}" type="datetimeFigureOut">
              <a:rPr lang="en-US" smtClean="0"/>
              <a:t>3/2/2025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7265DA-1890-4E65-A265-A36DBEA0BFF7}" type="slidenum">
              <a:rPr lang="en-US" smtClean="0"/>
              <a:t>‹#›</a:t>
            </a:fld>
            <a:endParaRPr lang="en-US" dirty="0"/>
          </a:p>
        </p:txBody>
      </p:sp>
    </p:spTree>
    <p:extLst>
      <p:ext uri="{BB962C8B-B14F-4D97-AF65-F5344CB8AC3E}">
        <p14:creationId xmlns:p14="http://schemas.microsoft.com/office/powerpoint/2010/main" val="2114356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71230"/>
            <a:ext cx="9144000" cy="2387600"/>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Welcome to Praat	!</a:t>
            </a:r>
          </a:p>
        </p:txBody>
      </p:sp>
      <p:sp>
        <p:nvSpPr>
          <p:cNvPr id="3" name="Subtitle 2"/>
          <p:cNvSpPr>
            <a:spLocks noGrp="1"/>
          </p:cNvSpPr>
          <p:nvPr>
            <p:ph type="subTitle" idx="1"/>
          </p:nvPr>
        </p:nvSpPr>
        <p:spPr>
          <a:xfrm>
            <a:off x="1524000" y="2525268"/>
            <a:ext cx="9144000" cy="1655762"/>
          </a:xfrm>
        </p:spPr>
        <p:txBody>
          <a:bodyPr/>
          <a:lstStyle/>
          <a:p>
            <a:r>
              <a:rPr lang="en-US" dirty="0">
                <a:latin typeface="Open sans" panose="020B0606030504020204" pitchFamily="34" charset="0"/>
                <a:ea typeface="Open sans" panose="020B0606030504020204" pitchFamily="34" charset="0"/>
                <a:cs typeface="Open sans" panose="020B0606030504020204" pitchFamily="34" charset="0"/>
              </a:rPr>
              <a:t>Key Acoustic Functions for Linguists and Speech Therapists</a:t>
            </a:r>
          </a:p>
          <a:p>
            <a:r>
              <a:rPr lang="en-US" dirty="0">
                <a:latin typeface="Open sans" panose="020B0606030504020204" pitchFamily="34" charset="0"/>
                <a:ea typeface="Open sans" panose="020B0606030504020204" pitchFamily="34" charset="0"/>
                <a:cs typeface="Open sans" panose="020B0606030504020204" pitchFamily="34" charset="0"/>
              </a:rPr>
              <a:t>Anna Holt </a:t>
            </a:r>
          </a:p>
          <a:p>
            <a:r>
              <a:rPr lang="en-US" dirty="0">
                <a:latin typeface="Open sans" panose="020B0606030504020204" pitchFamily="34" charset="0"/>
                <a:ea typeface="Open sans" panose="020B0606030504020204" pitchFamily="34" charset="0"/>
                <a:cs typeface="Open sans" panose="020B0606030504020204" pitchFamily="34" charset="0"/>
              </a:rPr>
              <a:t>Week 3 Homework</a:t>
            </a:r>
          </a:p>
        </p:txBody>
      </p:sp>
      <p:pic>
        <p:nvPicPr>
          <p:cNvPr id="1026" name="Picture 2" descr="The logo for thirty-year-old Praat linguistics software. It appears to be a cartoon mouth over a cartoon ear.">
            <a:extLst>
              <a:ext uri="{FF2B5EF4-FFF2-40B4-BE49-F238E27FC236}">
                <a16:creationId xmlns:a16="http://schemas.microsoft.com/office/drawing/2014/main" id="{1AEBCA62-8D6C-803C-9802-AD909640E0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5377" y="4065840"/>
            <a:ext cx="2569613" cy="2616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1014430"/>
      </p:ext>
    </p:extLst>
  </p:cSld>
  <p:clrMapOvr>
    <a:masterClrMapping/>
  </p:clrMapOvr>
  <mc:AlternateContent xmlns:mc="http://schemas.openxmlformats.org/markup-compatibility/2006" xmlns:p14="http://schemas.microsoft.com/office/powerpoint/2010/main">
    <mc:Choice Requires="p14">
      <p:transition spd="slow" p14:dur="2000" advTm="3538"/>
    </mc:Choice>
    <mc:Fallback xmlns="">
      <p:transition spd="slow" advTm="353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73969-DDF5-D7BD-EA7B-D04C17C0AFEC}"/>
              </a:ext>
            </a:extLst>
          </p:cNvPr>
          <p:cNvSpPr>
            <a:spLocks noGrp="1"/>
          </p:cNvSpPr>
          <p:nvPr>
            <p:ph type="title"/>
          </p:nvPr>
        </p:nvSpPr>
        <p:spPr>
          <a:xfrm>
            <a:off x="110413" y="-166719"/>
            <a:ext cx="10515600" cy="1325563"/>
          </a:xfrm>
        </p:spPr>
        <p:txBody>
          <a:bodyPr>
            <a:normAutofit/>
          </a:bodyPr>
          <a:lstStyle/>
          <a:p>
            <a:r>
              <a:rPr lang="en-US" sz="3500" dirty="0">
                <a:latin typeface="Open sans" panose="020B0606030504020204" pitchFamily="34" charset="0"/>
                <a:ea typeface="Open sans" panose="020B0606030504020204" pitchFamily="34" charset="0"/>
                <a:cs typeface="Open sans" panose="020B0606030504020204" pitchFamily="34" charset="0"/>
              </a:rPr>
              <a:t>Launching Praat</a:t>
            </a:r>
          </a:p>
        </p:txBody>
      </p:sp>
      <p:pic>
        <p:nvPicPr>
          <p:cNvPr id="4" name="Picture 3" descr="An image of the Praat picture window. It appears to be a white center square with a pink border and file options &quot;File,&quot; &quot;Edit,&quot; &quot;Margins,&quot; &quot;World,&quot; &quot;Select,&quot; &quot;Pen&quot; and &quot;Font.&quot;">
            <a:extLst>
              <a:ext uri="{FF2B5EF4-FFF2-40B4-BE49-F238E27FC236}">
                <a16:creationId xmlns:a16="http://schemas.microsoft.com/office/drawing/2014/main" id="{B16157ED-28BD-2BA2-E5EF-BADA284111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1" y="877078"/>
            <a:ext cx="12240461" cy="5980922"/>
          </a:xfrm>
          <a:prstGeom prst="rect">
            <a:avLst/>
          </a:prstGeom>
          <a:blipFill>
            <a:blip r:embed="rId2"/>
            <a:stretch>
              <a:fillRect/>
            </a:stretch>
          </a:blipFill>
        </p:spPr>
      </p:pic>
      <p:sp>
        <p:nvSpPr>
          <p:cNvPr id="5" name="Up Arrow Callout 3">
            <a:extLst>
              <a:ext uri="{FF2B5EF4-FFF2-40B4-BE49-F238E27FC236}">
                <a16:creationId xmlns:a16="http://schemas.microsoft.com/office/drawing/2014/main" id="{DCCCF337-B588-2F4D-CC24-371A23C63925}"/>
              </a:ext>
            </a:extLst>
          </p:cNvPr>
          <p:cNvSpPr/>
          <p:nvPr/>
        </p:nvSpPr>
        <p:spPr>
          <a:xfrm>
            <a:off x="9302620" y="1015357"/>
            <a:ext cx="2889380" cy="5674691"/>
          </a:xfrm>
          <a:prstGeom prst="upArrowCallou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Picture Window</a:t>
            </a:r>
            <a:endParaRPr lang="en-US" b="1" dirty="0">
              <a:solidFill>
                <a:schemeClr val="bg1">
                  <a:lumMod val="95000"/>
                </a:schemeClr>
              </a:solidFill>
            </a:endParaRPr>
          </a:p>
          <a:p>
            <a:r>
              <a:rPr lang="en-US" dirty="0">
                <a:solidFill>
                  <a:schemeClr val="bg1">
                    <a:lumMod val="95000"/>
                  </a:schemeClr>
                </a:solidFill>
              </a:rPr>
              <a:t>The Praat Picture window opens automatically. It is used to create publication-quality final images of analyses done in the objects window. Many users choose to close this window immediately upon opening Praat. Minimize or close the picture window using common windows tabs.</a:t>
            </a:r>
          </a:p>
          <a:p>
            <a:pPr algn="just" defTabSz="1087438"/>
            <a:endParaRPr lang="en-US" sz="1200" dirty="0">
              <a:solidFill>
                <a:schemeClr val="bg1">
                  <a:lumMod val="95000"/>
                </a:schemeClr>
              </a:solidFill>
            </a:endParaRPr>
          </a:p>
          <a:p>
            <a:pPr algn="just" defTabSz="1171575"/>
            <a:r>
              <a:rPr lang="en-US" sz="1200" b="1" dirty="0">
                <a:solidFill>
                  <a:schemeClr val="bg1">
                    <a:lumMod val="85000"/>
                  </a:schemeClr>
                </a:solidFill>
              </a:rPr>
              <a:t>Back                         </a:t>
            </a:r>
            <a:r>
              <a:rPr lang="en-US" sz="1200" b="1" dirty="0">
                <a:solidFill>
                  <a:schemeClr val="bg1"/>
                </a:solidFill>
              </a:rPr>
              <a:t>Next</a:t>
            </a:r>
            <a:r>
              <a:rPr lang="en-US" sz="1200" b="1" dirty="0">
                <a:solidFill>
                  <a:schemeClr val="bg1">
                    <a:lumMod val="85000"/>
                  </a:schemeClr>
                </a:solidFill>
              </a:rPr>
              <a:t>	   End</a:t>
            </a:r>
          </a:p>
        </p:txBody>
      </p:sp>
    </p:spTree>
    <p:extLst>
      <p:ext uri="{BB962C8B-B14F-4D97-AF65-F5344CB8AC3E}">
        <p14:creationId xmlns:p14="http://schemas.microsoft.com/office/powerpoint/2010/main" val="4020211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EF3694-F908-3028-AA62-14012F5EDA96}"/>
              </a:ext>
            </a:extLst>
          </p:cNvPr>
          <p:cNvSpPr>
            <a:spLocks noGrp="1"/>
          </p:cNvSpPr>
          <p:nvPr>
            <p:ph type="title"/>
          </p:nvPr>
        </p:nvSpPr>
        <p:spPr>
          <a:xfrm>
            <a:off x="5393094" y="0"/>
            <a:ext cx="6798906" cy="1325563"/>
          </a:xfrm>
        </p:spPr>
        <p:txBody>
          <a:bodyPr>
            <a:normAutofit/>
          </a:bodyPr>
          <a:lstStyle/>
          <a:p>
            <a:pPr algn="r"/>
            <a:r>
              <a:rPr lang="en-US" sz="3500" dirty="0">
                <a:latin typeface="Open sans" panose="020B0606030504020204" pitchFamily="34" charset="0"/>
                <a:ea typeface="Open sans" panose="020B0606030504020204" pitchFamily="34" charset="0"/>
                <a:cs typeface="Open sans" panose="020B0606030504020204" pitchFamily="34" charset="0"/>
              </a:rPr>
              <a:t>The Praat Object Window: </a:t>
            </a:r>
            <a:br>
              <a:rPr lang="en-US" sz="3500" dirty="0">
                <a:latin typeface="Open sans" panose="020B0606030504020204" pitchFamily="34" charset="0"/>
                <a:ea typeface="Open sans" panose="020B0606030504020204" pitchFamily="34" charset="0"/>
                <a:cs typeface="Open sans" panose="020B0606030504020204" pitchFamily="34" charset="0"/>
              </a:rPr>
            </a:br>
            <a:r>
              <a:rPr lang="en-US" sz="3500" dirty="0">
                <a:latin typeface="Open sans" panose="020B0606030504020204" pitchFamily="34" charset="0"/>
                <a:ea typeface="Open sans" panose="020B0606030504020204" pitchFamily="34" charset="0"/>
                <a:cs typeface="Open sans" panose="020B0606030504020204" pitchFamily="34" charset="0"/>
              </a:rPr>
              <a:t>Praat Menu</a:t>
            </a:r>
          </a:p>
        </p:txBody>
      </p:sp>
      <p:pic>
        <p:nvPicPr>
          <p:cNvPr id="5" name="Picture 4" descr="An image of the Praat Object window. It has dropdown menu options, &quot;Praat,&quot; &quot;New,&quot; &quot;Open,&quot; and Save. The &quot;Praat menu is highlighted, showing the options under the &quot;Goodies&quot; menu, which include a calculator and a screenshot option.">
            <a:extLst>
              <a:ext uri="{FF2B5EF4-FFF2-40B4-BE49-F238E27FC236}">
                <a16:creationId xmlns:a16="http://schemas.microsoft.com/office/drawing/2014/main" id="{A2CEAA52-D967-1565-7698-5FE31ED523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306" y="195943"/>
            <a:ext cx="5147953" cy="6662057"/>
          </a:xfrm>
          <a:prstGeom prst="rect">
            <a:avLst/>
          </a:prstGeom>
        </p:spPr>
      </p:pic>
      <p:sp>
        <p:nvSpPr>
          <p:cNvPr id="8" name="Left Arrow Callout 1">
            <a:extLst>
              <a:ext uri="{FF2B5EF4-FFF2-40B4-BE49-F238E27FC236}">
                <a16:creationId xmlns:a16="http://schemas.microsoft.com/office/drawing/2014/main" id="{E91DFF78-C39E-9F2D-7275-C462F1C106DB}"/>
              </a:ext>
            </a:extLst>
          </p:cNvPr>
          <p:cNvSpPr/>
          <p:nvPr/>
        </p:nvSpPr>
        <p:spPr>
          <a:xfrm>
            <a:off x="5180340" y="1086301"/>
            <a:ext cx="4924714" cy="3364401"/>
          </a:xfrm>
          <a:prstGeom prst="leftArrowCallou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lumMod val="95000"/>
                  </a:schemeClr>
                </a:solidFill>
              </a:rPr>
              <a:t>Goodies Tab</a:t>
            </a:r>
          </a:p>
          <a:p>
            <a:r>
              <a:rPr lang="en-US" dirty="0">
                <a:solidFill>
                  <a:schemeClr val="bg1">
                    <a:lumMod val="95000"/>
                  </a:schemeClr>
                </a:solidFill>
              </a:rPr>
              <a:t>The Praat dropdown window is mostly focused on scripting and other automation tools. It also contains some useful easter eggs hidden under the Goodies tab. These include the ability to save a .pdf screenshot of the current open window as a pdf and even a calculator!</a:t>
            </a:r>
          </a:p>
          <a:p>
            <a:pPr algn="just" defTabSz="855663"/>
            <a:endParaRPr lang="en-US" sz="1400" dirty="0">
              <a:solidFill>
                <a:schemeClr val="bg1">
                  <a:lumMod val="95000"/>
                </a:schemeClr>
              </a:solidFill>
            </a:endParaRPr>
          </a:p>
          <a:p>
            <a:pPr algn="just" defTabSz="973138"/>
            <a:r>
              <a:rPr lang="en-US" sz="1400" b="1" dirty="0">
                <a:solidFill>
                  <a:schemeClr val="bg1">
                    <a:lumMod val="95000"/>
                  </a:schemeClr>
                </a:solidFill>
              </a:rPr>
              <a:t>Back</a:t>
            </a:r>
            <a:r>
              <a:rPr lang="en-US" sz="1400" dirty="0">
                <a:solidFill>
                  <a:schemeClr val="bg1">
                    <a:lumMod val="95000"/>
                  </a:schemeClr>
                </a:solidFill>
              </a:rPr>
              <a:t>	       </a:t>
            </a:r>
            <a:r>
              <a:rPr lang="en-US" sz="1400" b="1" dirty="0">
                <a:solidFill>
                  <a:schemeClr val="bg1"/>
                </a:solidFill>
              </a:rPr>
              <a:t>Next</a:t>
            </a:r>
            <a:r>
              <a:rPr lang="en-US" sz="1400" b="1" dirty="0">
                <a:solidFill>
                  <a:schemeClr val="bg1">
                    <a:lumMod val="95000"/>
                  </a:schemeClr>
                </a:solidFill>
              </a:rPr>
              <a:t>	                  End</a:t>
            </a:r>
            <a:endParaRPr lang="en-US" b="1" dirty="0">
              <a:solidFill>
                <a:schemeClr val="bg1">
                  <a:lumMod val="95000"/>
                </a:schemeClr>
              </a:solidFill>
            </a:endParaRPr>
          </a:p>
        </p:txBody>
      </p:sp>
    </p:spTree>
    <p:extLst>
      <p:ext uri="{BB962C8B-B14F-4D97-AF65-F5344CB8AC3E}">
        <p14:creationId xmlns:p14="http://schemas.microsoft.com/office/powerpoint/2010/main" val="706832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672A85B-12A0-B405-E403-A3952532551B}"/>
              </a:ext>
            </a:extLst>
          </p:cNvPr>
          <p:cNvSpPr>
            <a:spLocks noGrp="1"/>
          </p:cNvSpPr>
          <p:nvPr>
            <p:ph type="title"/>
          </p:nvPr>
        </p:nvSpPr>
        <p:spPr>
          <a:xfrm>
            <a:off x="230154" y="0"/>
            <a:ext cx="6814457" cy="1325563"/>
          </a:xfrm>
        </p:spPr>
        <p:txBody>
          <a:bodyPr>
            <a:normAutofit/>
          </a:bodyPr>
          <a:lstStyle/>
          <a:p>
            <a:r>
              <a:rPr lang="en-US" sz="3500" dirty="0">
                <a:latin typeface="Open sans" panose="020B0606030504020204" pitchFamily="34" charset="0"/>
                <a:ea typeface="Open sans" panose="020B0606030504020204" pitchFamily="34" charset="0"/>
                <a:cs typeface="Open sans" panose="020B0606030504020204" pitchFamily="34" charset="0"/>
              </a:rPr>
              <a:t>The Praat Object Window:</a:t>
            </a:r>
            <a:br>
              <a:rPr lang="en-US" sz="3500" dirty="0">
                <a:latin typeface="Open sans" panose="020B0606030504020204" pitchFamily="34" charset="0"/>
                <a:ea typeface="Open sans" panose="020B0606030504020204" pitchFamily="34" charset="0"/>
                <a:cs typeface="Open sans" panose="020B0606030504020204" pitchFamily="34" charset="0"/>
              </a:rPr>
            </a:br>
            <a:r>
              <a:rPr lang="en-US" sz="3500" dirty="0">
                <a:latin typeface="Open sans" panose="020B0606030504020204" pitchFamily="34" charset="0"/>
                <a:ea typeface="Open sans" panose="020B0606030504020204" pitchFamily="34" charset="0"/>
                <a:cs typeface="Open sans" panose="020B0606030504020204" pitchFamily="34" charset="0"/>
              </a:rPr>
              <a:t>Opening an Existing Sound File</a:t>
            </a:r>
          </a:p>
        </p:txBody>
      </p:sp>
      <p:pic>
        <p:nvPicPr>
          <p:cNvPr id="4" name="Picture 3" descr="An image of the Praat Objects menu. The &quot;Open&quot; dropdown menu is visible. Options include &quot;Read from File&quot; as the most commonly used selection.">
            <a:extLst>
              <a:ext uri="{FF2B5EF4-FFF2-40B4-BE49-F238E27FC236}">
                <a16:creationId xmlns:a16="http://schemas.microsoft.com/office/drawing/2014/main" id="{62C4B1BD-E4FE-EF54-736B-6135B69C98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5464" y="0"/>
            <a:ext cx="4858528" cy="6858000"/>
          </a:xfrm>
          <a:prstGeom prst="rect">
            <a:avLst/>
          </a:prstGeom>
        </p:spPr>
      </p:pic>
      <p:sp>
        <p:nvSpPr>
          <p:cNvPr id="6" name="Right Arrow Callout 1">
            <a:extLst>
              <a:ext uri="{FF2B5EF4-FFF2-40B4-BE49-F238E27FC236}">
                <a16:creationId xmlns:a16="http://schemas.microsoft.com/office/drawing/2014/main" id="{FD6BD2E4-26A8-ACD6-AF38-6DEC7E38E99F}"/>
              </a:ext>
            </a:extLst>
          </p:cNvPr>
          <p:cNvSpPr/>
          <p:nvPr/>
        </p:nvSpPr>
        <p:spPr>
          <a:xfrm>
            <a:off x="2780522" y="1179321"/>
            <a:ext cx="5096029" cy="4119072"/>
          </a:xfrm>
          <a:prstGeom prst="rightArrowCallou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bg1">
                  <a:lumMod val="85000"/>
                </a:schemeClr>
              </a:solidFill>
            </a:endParaRPr>
          </a:p>
          <a:p>
            <a:pPr algn="ctr"/>
            <a:r>
              <a:rPr lang="en-US" sz="2000" b="1" dirty="0">
                <a:solidFill>
                  <a:schemeClr val="bg1">
                    <a:lumMod val="85000"/>
                  </a:schemeClr>
                </a:solidFill>
              </a:rPr>
              <a:t>Opening a File</a:t>
            </a:r>
          </a:p>
          <a:p>
            <a:pPr algn="ctr"/>
            <a:endParaRPr lang="en-US" dirty="0">
              <a:solidFill>
                <a:schemeClr val="bg1">
                  <a:lumMod val="85000"/>
                </a:schemeClr>
              </a:solidFill>
            </a:endParaRPr>
          </a:p>
          <a:p>
            <a:r>
              <a:rPr lang="en-US" dirty="0">
                <a:solidFill>
                  <a:schemeClr val="bg1">
                    <a:lumMod val="85000"/>
                  </a:schemeClr>
                </a:solidFill>
              </a:rPr>
              <a:t>The Praat Open dropdown menu contains the most commonly used features for most academic Praat users. Clicking on </a:t>
            </a:r>
            <a:r>
              <a:rPr lang="en-US" b="1" dirty="0">
                <a:solidFill>
                  <a:schemeClr val="bg1">
                    <a:lumMod val="85000"/>
                  </a:schemeClr>
                </a:solidFill>
              </a:rPr>
              <a:t>Read from File </a:t>
            </a:r>
            <a:r>
              <a:rPr lang="en-US" dirty="0">
                <a:solidFill>
                  <a:schemeClr val="bg1">
                    <a:lumMod val="85000"/>
                  </a:schemeClr>
                </a:solidFill>
              </a:rPr>
              <a:t>enables the user to select an open a file, which will show up as a file name under the Objects whitespace window. Users can have many files open at once. Each will show in a list. </a:t>
            </a:r>
            <a:endParaRPr lang="en-US" sz="1400" dirty="0">
              <a:solidFill>
                <a:schemeClr val="bg1">
                  <a:lumMod val="85000"/>
                </a:schemeClr>
              </a:solidFill>
            </a:endParaRPr>
          </a:p>
          <a:p>
            <a:pPr algn="just"/>
            <a:endParaRPr lang="en-US" sz="1400" dirty="0">
              <a:solidFill>
                <a:schemeClr val="bg1">
                  <a:lumMod val="85000"/>
                </a:schemeClr>
              </a:solidFill>
            </a:endParaRPr>
          </a:p>
          <a:p>
            <a:pPr algn="just"/>
            <a:r>
              <a:rPr lang="en-US" sz="1400" b="1" dirty="0">
                <a:solidFill>
                  <a:schemeClr val="bg1">
                    <a:lumMod val="85000"/>
                  </a:schemeClr>
                </a:solidFill>
              </a:rPr>
              <a:t>Back</a:t>
            </a:r>
            <a:r>
              <a:rPr lang="en-US" sz="1400" dirty="0">
                <a:solidFill>
                  <a:schemeClr val="bg1">
                    <a:lumMod val="85000"/>
                  </a:schemeClr>
                </a:solidFill>
              </a:rPr>
              <a:t>	</a:t>
            </a:r>
            <a:r>
              <a:rPr lang="en-US" sz="1400" b="1" dirty="0">
                <a:solidFill>
                  <a:schemeClr val="bg1">
                    <a:lumMod val="85000"/>
                  </a:schemeClr>
                </a:solidFill>
              </a:rPr>
              <a:t>           </a:t>
            </a:r>
            <a:r>
              <a:rPr lang="en-US" sz="1400" b="1" dirty="0">
                <a:solidFill>
                  <a:schemeClr val="bg1"/>
                </a:solidFill>
              </a:rPr>
              <a:t>Next</a:t>
            </a:r>
            <a:r>
              <a:rPr lang="en-US" sz="1400" b="1" dirty="0">
                <a:solidFill>
                  <a:schemeClr val="bg1">
                    <a:lumMod val="85000"/>
                  </a:schemeClr>
                </a:solidFill>
              </a:rPr>
              <a:t>	                      End</a:t>
            </a:r>
          </a:p>
        </p:txBody>
      </p:sp>
      <p:sp>
        <p:nvSpPr>
          <p:cNvPr id="8" name="Left Arrow Callout 1">
            <a:extLst>
              <a:ext uri="{FF2B5EF4-FFF2-40B4-BE49-F238E27FC236}">
                <a16:creationId xmlns:a16="http://schemas.microsoft.com/office/drawing/2014/main" id="{750D0784-B37C-E822-7C9B-87A29CF6D8F4}"/>
              </a:ext>
            </a:extLst>
          </p:cNvPr>
          <p:cNvSpPr/>
          <p:nvPr/>
        </p:nvSpPr>
        <p:spPr>
          <a:xfrm rot="1837157">
            <a:off x="8635868" y="311791"/>
            <a:ext cx="3348609" cy="2155215"/>
          </a:xfrm>
          <a:prstGeom prst="leftArrowCallou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chemeClr val="bg1">
                  <a:lumMod val="85000"/>
                </a:schemeClr>
              </a:solidFill>
            </a:endParaRPr>
          </a:p>
          <a:p>
            <a:pPr algn="ctr"/>
            <a:r>
              <a:rPr lang="en-US" sz="2000" b="1" dirty="0">
                <a:solidFill>
                  <a:schemeClr val="bg1">
                    <a:lumMod val="85000"/>
                  </a:schemeClr>
                </a:solidFill>
              </a:rPr>
              <a:t>Saving a File</a:t>
            </a:r>
          </a:p>
          <a:p>
            <a:r>
              <a:rPr lang="en-US" dirty="0">
                <a:solidFill>
                  <a:schemeClr val="bg1">
                    <a:lumMod val="85000"/>
                  </a:schemeClr>
                </a:solidFill>
              </a:rPr>
              <a:t>The Save button is greyed out until there is a file in the Object window to save.</a:t>
            </a:r>
            <a:endParaRPr lang="en-US" sz="1400" dirty="0">
              <a:solidFill>
                <a:schemeClr val="bg1">
                  <a:lumMod val="85000"/>
                </a:schemeClr>
              </a:solidFill>
            </a:endParaRPr>
          </a:p>
          <a:p>
            <a:pPr algn="just" defTabSz="973138"/>
            <a:r>
              <a:rPr lang="en-US" sz="1400" b="1" dirty="0">
                <a:solidFill>
                  <a:schemeClr val="bg1">
                    <a:lumMod val="85000"/>
                  </a:schemeClr>
                </a:solidFill>
              </a:rPr>
              <a:t>Back             Next            </a:t>
            </a:r>
            <a:r>
              <a:rPr lang="en-US" sz="1400" b="1" dirty="0">
                <a:solidFill>
                  <a:schemeClr val="bg1"/>
                </a:solidFill>
              </a:rPr>
              <a:t>End</a:t>
            </a:r>
            <a:endParaRPr lang="en-US" b="1" dirty="0">
              <a:solidFill>
                <a:schemeClr val="bg1"/>
              </a:solidFill>
            </a:endParaRPr>
          </a:p>
        </p:txBody>
      </p:sp>
    </p:spTree>
    <p:extLst>
      <p:ext uri="{BB962C8B-B14F-4D97-AF65-F5344CB8AC3E}">
        <p14:creationId xmlns:p14="http://schemas.microsoft.com/office/powerpoint/2010/main" val="3888090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247</Words>
  <Application>Microsoft Office PowerPoint</Application>
  <PresentationFormat>Widescreen</PresentationFormat>
  <Paragraphs>25</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Open sans</vt:lpstr>
      <vt:lpstr>Office Theme</vt:lpstr>
      <vt:lpstr>Welcome to Praat !</vt:lpstr>
      <vt:lpstr>Launching Praat</vt:lpstr>
      <vt:lpstr>The Praat Object Window:  Praat Menu</vt:lpstr>
      <vt:lpstr>The Praat Object Window: Opening an Existing Sound 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Zoe</dc:creator>
  <cp:lastModifiedBy>Anna Holt</cp:lastModifiedBy>
  <cp:revision>23</cp:revision>
  <dcterms:created xsi:type="dcterms:W3CDTF">2020-02-09T02:17:20Z</dcterms:created>
  <dcterms:modified xsi:type="dcterms:W3CDTF">2025-03-02T17:43:36Z</dcterms:modified>
</cp:coreProperties>
</file>