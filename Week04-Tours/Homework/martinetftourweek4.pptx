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embeddedFontLst>
    <p:embeddedFont>
      <p:font typeface="Roboto" panose="02000000000000000000" pitchFamily="2" charset="0"/>
      <p:regular r:id="rId11"/>
      <p:bold r:id="rId12"/>
      <p:italic r:id="rId13"/>
      <p:boldItalic r:id="rId14"/>
    </p:embeddedFont>
    <p:embeddedFont>
      <p:font typeface="Roboto Slab" pitchFamily="2"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6" d="100"/>
          <a:sy n="116" d="100"/>
        </p:scale>
        <p:origin x="75" y="28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c6f75fce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c6f75fce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c6f75fceb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c6f75fce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1e68592131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1e6859213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1e68592131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1e68592131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c6f75fceb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c6f75fceb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c6f75fceb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c6f75fce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1e68592131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1e6859213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c6f75fceb_0_2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c6f75fceb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image" Target="../media/image6.jpg"/><Relationship Id="rId4"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Less Tech, More Talk</a:t>
            </a:r>
            <a:endParaRPr/>
          </a:p>
        </p:txBody>
      </p:sp>
      <p:sp>
        <p:nvSpPr>
          <p:cNvPr id="64" name="Google Shape;64;p13"/>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Martine Thomas-Fox,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461225" y="-642950"/>
            <a:ext cx="8344200" cy="1625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rgbClr val="00FFFF"/>
                </a:solidFill>
              </a:rPr>
              <a:t>The Destruction of Language Development</a:t>
            </a:r>
            <a:endParaRPr>
              <a:solidFill>
                <a:srgbClr val="00FFFF"/>
              </a:solidFill>
            </a:endParaRPr>
          </a:p>
        </p:txBody>
      </p:sp>
      <p:sp>
        <p:nvSpPr>
          <p:cNvPr id="70" name="Google Shape;70;p14"/>
          <p:cNvSpPr txBox="1">
            <a:spLocks noGrp="1"/>
          </p:cNvSpPr>
          <p:nvPr>
            <p:ph type="body" idx="1"/>
          </p:nvPr>
        </p:nvSpPr>
        <p:spPr>
          <a:xfrm>
            <a:off x="139775" y="1330363"/>
            <a:ext cx="8548500" cy="21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rgbClr val="00FFFF"/>
                </a:solidFill>
              </a:rPr>
              <a:t>Next time you go to the supermarket, look to see how many toddlers are using their parents’ phones as parents throw items in their carts.</a:t>
            </a:r>
            <a:endParaRPr sz="2000">
              <a:solidFill>
                <a:srgbClr val="00FFFF"/>
              </a:solidFill>
            </a:endParaRPr>
          </a:p>
          <a:p>
            <a:pPr marL="0" lvl="0" indent="0" algn="l" rtl="0">
              <a:spcBef>
                <a:spcPts val="1600"/>
              </a:spcBef>
              <a:spcAft>
                <a:spcPts val="0"/>
              </a:spcAft>
              <a:buNone/>
            </a:pPr>
            <a:r>
              <a:rPr lang="en" sz="2000">
                <a:solidFill>
                  <a:srgbClr val="00FFFF"/>
                </a:solidFill>
              </a:rPr>
              <a:t>This lack of interaction between parents and toddlers appears harmless, but, in reality, language development is in danger!</a:t>
            </a:r>
            <a:endParaRPr sz="2000">
              <a:solidFill>
                <a:srgbClr val="00FFFF"/>
              </a:solidFill>
            </a:endParaRPr>
          </a:p>
          <a:p>
            <a:pPr marL="0" lvl="0" indent="0" algn="l" rtl="0">
              <a:spcBef>
                <a:spcPts val="1600"/>
              </a:spcBef>
              <a:spcAft>
                <a:spcPts val="1600"/>
              </a:spcAft>
              <a:buNone/>
            </a:pPr>
            <a:endParaRPr sz="2000"/>
          </a:p>
        </p:txBody>
      </p:sp>
      <p:pic>
        <p:nvPicPr>
          <p:cNvPr id="71" name="Google Shape;71;p14" descr="HD wallpaper: blue and yellow plastic shopping push cart toy, toy ..."/>
          <p:cNvPicPr preferRelativeResize="0"/>
          <p:nvPr/>
        </p:nvPicPr>
        <p:blipFill>
          <a:blip r:embed="rId3">
            <a:alphaModFix/>
          </a:blip>
          <a:stretch>
            <a:fillRect/>
          </a:stretch>
        </p:blipFill>
        <p:spPr>
          <a:xfrm>
            <a:off x="3324025" y="3510175"/>
            <a:ext cx="2180000" cy="1503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a:spLocks noGrp="1"/>
          </p:cNvSpPr>
          <p:nvPr>
            <p:ph type="ctrTitle"/>
          </p:nvPr>
        </p:nvSpPr>
        <p:spPr>
          <a:xfrm>
            <a:off x="99450" y="-153725"/>
            <a:ext cx="9144000" cy="1109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500"/>
              <a:t>Why is language development important?</a:t>
            </a:r>
            <a:endParaRPr sz="3500"/>
          </a:p>
        </p:txBody>
      </p:sp>
      <p:sp>
        <p:nvSpPr>
          <p:cNvPr id="77" name="Google Shape;77;p15"/>
          <p:cNvSpPr txBox="1">
            <a:spLocks noGrp="1"/>
          </p:cNvSpPr>
          <p:nvPr>
            <p:ph type="subTitle" idx="1"/>
          </p:nvPr>
        </p:nvSpPr>
        <p:spPr>
          <a:xfrm>
            <a:off x="99450" y="1174075"/>
            <a:ext cx="8957700" cy="396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a:t>Language development is the foundation for reading and writing skills, allowing children and teenagers  to understand and express ideas through written words.</a:t>
            </a:r>
            <a:endParaRPr/>
          </a:p>
          <a:p>
            <a:pPr marL="0" lvl="0" indent="0" algn="l" rtl="0">
              <a:spcBef>
                <a:spcPts val="0"/>
              </a:spcBef>
              <a:spcAft>
                <a:spcPts val="0"/>
              </a:spcAft>
              <a:buNone/>
            </a:pPr>
            <a:endParaRPr/>
          </a:p>
          <a:p>
            <a:pPr marL="0" lvl="0" indent="0" algn="l" rtl="0">
              <a:spcBef>
                <a:spcPts val="0"/>
              </a:spcBef>
              <a:spcAft>
                <a:spcPts val="0"/>
              </a:spcAft>
              <a:buNone/>
            </a:pPr>
            <a:r>
              <a:rPr lang="en"/>
              <a:t>It enables youth to comprehend complex concepts, interact effectively with others, and achieve academic success across all subjects.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pic>
        <p:nvPicPr>
          <p:cNvPr id="82" name="Google Shape;82;p16" descr="Free Images : child, supermarket, toddler, smile 3264x4928 ..."/>
          <p:cNvPicPr preferRelativeResize="0"/>
          <p:nvPr/>
        </p:nvPicPr>
        <p:blipFill>
          <a:blip r:embed="rId3">
            <a:alphaModFix/>
          </a:blip>
          <a:stretch>
            <a:fillRect/>
          </a:stretch>
        </p:blipFill>
        <p:spPr>
          <a:xfrm>
            <a:off x="2138475" y="1056975"/>
            <a:ext cx="1607324" cy="1946025"/>
          </a:xfrm>
          <a:prstGeom prst="rect">
            <a:avLst/>
          </a:prstGeom>
          <a:noFill/>
          <a:ln>
            <a:noFill/>
          </a:ln>
        </p:spPr>
      </p:pic>
      <p:sp>
        <p:nvSpPr>
          <p:cNvPr id="83" name="Google Shape;83;p16"/>
          <p:cNvSpPr txBox="1"/>
          <p:nvPr/>
        </p:nvSpPr>
        <p:spPr>
          <a:xfrm>
            <a:off x="0" y="0"/>
            <a:ext cx="9144000" cy="5143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600">
                <a:solidFill>
                  <a:srgbClr val="00FFFF"/>
                </a:solidFill>
                <a:latin typeface="Roboto"/>
                <a:ea typeface="Roboto"/>
                <a:cs typeface="Roboto"/>
                <a:sym typeface="Roboto"/>
              </a:rPr>
              <a:t>So, let’s go back to the supermarket.</a:t>
            </a:r>
            <a:endParaRPr sz="2600">
              <a:solidFill>
                <a:srgbClr val="00FFFF"/>
              </a:solidFill>
              <a:latin typeface="Roboto"/>
              <a:ea typeface="Roboto"/>
              <a:cs typeface="Roboto"/>
              <a:sym typeface="Roboto"/>
            </a:endParaRPr>
          </a:p>
          <a:p>
            <a:pPr marL="0" lvl="0" indent="0" algn="l" rtl="0">
              <a:lnSpc>
                <a:spcPct val="115000"/>
              </a:lnSpc>
              <a:spcBef>
                <a:spcPts val="1600"/>
              </a:spcBef>
              <a:spcAft>
                <a:spcPts val="0"/>
              </a:spcAft>
              <a:buNone/>
            </a:pPr>
            <a:endParaRPr sz="2600">
              <a:latin typeface="Roboto"/>
              <a:ea typeface="Roboto"/>
              <a:cs typeface="Roboto"/>
              <a:sym typeface="Roboto"/>
            </a:endParaRPr>
          </a:p>
          <a:p>
            <a:pPr marL="0" lvl="0" indent="0" algn="l" rtl="0">
              <a:lnSpc>
                <a:spcPct val="115000"/>
              </a:lnSpc>
              <a:spcBef>
                <a:spcPts val="1600"/>
              </a:spcBef>
              <a:spcAft>
                <a:spcPts val="0"/>
              </a:spcAft>
              <a:buNone/>
            </a:pPr>
            <a:endParaRPr sz="2600">
              <a:latin typeface="Roboto"/>
              <a:ea typeface="Roboto"/>
              <a:cs typeface="Roboto"/>
              <a:sym typeface="Roboto"/>
            </a:endParaRPr>
          </a:p>
          <a:p>
            <a:pPr marL="0" lvl="0" indent="0" algn="l" rtl="0">
              <a:lnSpc>
                <a:spcPct val="115000"/>
              </a:lnSpc>
              <a:spcBef>
                <a:spcPts val="1600"/>
              </a:spcBef>
              <a:spcAft>
                <a:spcPts val="0"/>
              </a:spcAft>
              <a:buNone/>
            </a:pPr>
            <a:endParaRPr sz="2600">
              <a:latin typeface="Roboto"/>
              <a:ea typeface="Roboto"/>
              <a:cs typeface="Roboto"/>
              <a:sym typeface="Roboto"/>
            </a:endParaRPr>
          </a:p>
          <a:p>
            <a:pPr marL="0" lvl="0" indent="0" algn="l" rtl="0">
              <a:lnSpc>
                <a:spcPct val="115000"/>
              </a:lnSpc>
              <a:spcBef>
                <a:spcPts val="1600"/>
              </a:spcBef>
              <a:spcAft>
                <a:spcPts val="0"/>
              </a:spcAft>
              <a:buNone/>
            </a:pPr>
            <a:endParaRPr sz="2600">
              <a:latin typeface="Roboto"/>
              <a:ea typeface="Roboto"/>
              <a:cs typeface="Roboto"/>
              <a:sym typeface="Roboto"/>
            </a:endParaRPr>
          </a:p>
          <a:p>
            <a:pPr marL="0" lvl="0" indent="0" algn="l" rtl="0">
              <a:lnSpc>
                <a:spcPct val="115000"/>
              </a:lnSpc>
              <a:spcBef>
                <a:spcPts val="1600"/>
              </a:spcBef>
              <a:spcAft>
                <a:spcPts val="0"/>
              </a:spcAft>
              <a:buNone/>
            </a:pPr>
            <a:r>
              <a:rPr lang="en" sz="2600">
                <a:solidFill>
                  <a:srgbClr val="00FFFF"/>
                </a:solidFill>
                <a:latin typeface="Roboto"/>
                <a:ea typeface="Roboto"/>
                <a:cs typeface="Roboto"/>
                <a:sym typeface="Roboto"/>
              </a:rPr>
              <a:t>When parents engage in conversation with their toddlers about the colors and shapes of fruits and vegetables, they helps their toddlers increase their language to understand the world around them.</a:t>
            </a:r>
            <a:endParaRPr sz="4600">
              <a:solidFill>
                <a:srgbClr val="00FFFF"/>
              </a:solidFill>
              <a:latin typeface="Roboto Slab"/>
              <a:ea typeface="Roboto Slab"/>
              <a:cs typeface="Roboto Slab"/>
              <a:sym typeface="Roboto Slab"/>
            </a:endParaRPr>
          </a:p>
          <a:p>
            <a:pPr marL="0" lvl="0" indent="0" algn="l" rtl="0">
              <a:spcBef>
                <a:spcPts val="1600"/>
              </a:spcBef>
              <a:spcAft>
                <a:spcPts val="0"/>
              </a:spcAft>
              <a:buNone/>
            </a:pPr>
            <a:endParaRPr sz="1800">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title"/>
          </p:nvPr>
        </p:nvSpPr>
        <p:spPr>
          <a:xfrm>
            <a:off x="0" y="0"/>
            <a:ext cx="9144000" cy="5311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300">
                <a:solidFill>
                  <a:srgbClr val="00FFFF"/>
                </a:solidFill>
              </a:rPr>
              <a:t>Toddlers who are swiping instead of talking, grow up  to be children and teenagers who are too distracted to read books. </a:t>
            </a:r>
            <a:endParaRPr sz="2300">
              <a:solidFill>
                <a:srgbClr val="00FFFF"/>
              </a:solidFill>
            </a:endParaRPr>
          </a:p>
          <a:p>
            <a:pPr marL="0" lvl="0" indent="0" algn="l" rtl="0">
              <a:spcBef>
                <a:spcPts val="0"/>
              </a:spcBef>
              <a:spcAft>
                <a:spcPts val="0"/>
              </a:spcAft>
              <a:buNone/>
            </a:pPr>
            <a:endParaRPr sz="2300">
              <a:solidFill>
                <a:srgbClr val="00FFFF"/>
              </a:solidFill>
            </a:endParaRPr>
          </a:p>
          <a:p>
            <a:pPr marL="0" lvl="0" indent="0" algn="l" rtl="0">
              <a:spcBef>
                <a:spcPts val="0"/>
              </a:spcBef>
              <a:spcAft>
                <a:spcPts val="0"/>
              </a:spcAft>
              <a:buNone/>
            </a:pPr>
            <a:r>
              <a:rPr lang="en" sz="2300">
                <a:solidFill>
                  <a:srgbClr val="00FFFF"/>
                </a:solidFill>
              </a:rPr>
              <a:t>If youth are not reading, they are not developing reading comprehension skills such as making inference, understanding the main ideas and the supporting details, and summarizing text. </a:t>
            </a:r>
            <a:endParaRPr sz="2300">
              <a:solidFill>
                <a:srgbClr val="00FFFF"/>
              </a:solidFill>
            </a:endParaRPr>
          </a:p>
          <a:p>
            <a:pPr marL="0" lvl="0" indent="0" algn="l" rtl="0">
              <a:spcBef>
                <a:spcPts val="0"/>
              </a:spcBef>
              <a:spcAft>
                <a:spcPts val="0"/>
              </a:spcAft>
              <a:buNone/>
            </a:pPr>
            <a:endParaRPr sz="2300">
              <a:solidFill>
                <a:srgbClr val="00FFFF"/>
              </a:solidFill>
            </a:endParaRPr>
          </a:p>
          <a:p>
            <a:pPr marL="0" lvl="0" indent="0" algn="l" rtl="0">
              <a:spcBef>
                <a:spcPts val="0"/>
              </a:spcBef>
              <a:spcAft>
                <a:spcPts val="0"/>
              </a:spcAft>
              <a:buNone/>
            </a:pPr>
            <a:r>
              <a:rPr lang="en" sz="2300">
                <a:solidFill>
                  <a:srgbClr val="00FFFF"/>
                </a:solidFill>
              </a:rPr>
              <a:t>To make matters worse,  too much technology limits youth’s critical thinking skills leading to the literacy gap in youth.</a:t>
            </a:r>
            <a:endParaRPr sz="2300">
              <a:solidFill>
                <a:srgbClr val="00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a:spLocks noGrp="1"/>
          </p:cNvSpPr>
          <p:nvPr>
            <p:ph type="body" idx="2"/>
          </p:nvPr>
        </p:nvSpPr>
        <p:spPr>
          <a:xfrm>
            <a:off x="4654300" y="50"/>
            <a:ext cx="4489800" cy="514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2"/>
              </a:buClr>
              <a:buSzPts val="1100"/>
              <a:buNone/>
            </a:pPr>
            <a:endParaRPr/>
          </a:p>
          <a:p>
            <a:pPr marL="0" lvl="0" indent="0" algn="l" rtl="0">
              <a:spcBef>
                <a:spcPts val="1600"/>
              </a:spcBef>
              <a:spcAft>
                <a:spcPts val="0"/>
              </a:spcAft>
              <a:buClr>
                <a:schemeClr val="dk2"/>
              </a:buClr>
              <a:buSzPts val="1100"/>
              <a:buNone/>
            </a:pPr>
            <a:endParaRPr/>
          </a:p>
          <a:p>
            <a:pPr marL="0" lvl="0" indent="0" algn="l" rtl="0">
              <a:spcBef>
                <a:spcPts val="1600"/>
              </a:spcBef>
              <a:spcAft>
                <a:spcPts val="0"/>
              </a:spcAft>
              <a:buClr>
                <a:schemeClr val="dk2"/>
              </a:buClr>
              <a:buSzPts val="1100"/>
              <a:buNone/>
            </a:pPr>
            <a:r>
              <a:rPr lang="en"/>
              <a:t>Research shows that excessive screen time for young children, can negatively impact language development by reducing opportunities for crucial face-to-face interactions and verbal communication thus leading to delays in vocabulary acquisition and comprehension skills.</a:t>
            </a:r>
            <a:r>
              <a:rPr lang="en">
                <a:solidFill>
                  <a:srgbClr val="00FFFF"/>
                </a:solidFill>
              </a:rPr>
              <a:t> </a:t>
            </a:r>
            <a:r>
              <a:rPr lang="en" b="1">
                <a:solidFill>
                  <a:srgbClr val="00FFFF"/>
                </a:solidFill>
              </a:rPr>
              <a:t>-LENA | Building Brains Through Early Talk</a:t>
            </a:r>
            <a:endParaRPr b="1">
              <a:solidFill>
                <a:srgbClr val="00FFFF"/>
              </a:solidFill>
            </a:endParaRPr>
          </a:p>
          <a:p>
            <a:pPr marL="0" lvl="0" indent="0" algn="l" rtl="0">
              <a:spcBef>
                <a:spcPts val="1600"/>
              </a:spcBef>
              <a:spcAft>
                <a:spcPts val="0"/>
              </a:spcAft>
              <a:buClr>
                <a:schemeClr val="dk2"/>
              </a:buClr>
              <a:buSzPts val="1100"/>
              <a:buNone/>
            </a:pPr>
            <a:r>
              <a:rPr lang="en"/>
              <a:t>Research suggests that environmental contexts are key in shaping language development.</a:t>
            </a:r>
            <a:r>
              <a:rPr lang="en" b="1">
                <a:solidFill>
                  <a:srgbClr val="00FFFF"/>
                </a:solidFill>
              </a:rPr>
              <a:t> -Psychology Today</a:t>
            </a:r>
            <a:endParaRPr b="1">
              <a:solidFill>
                <a:srgbClr val="00FFFF"/>
              </a:solidFill>
            </a:endParaRPr>
          </a:p>
          <a:p>
            <a:pPr marL="0" lvl="0" indent="0" algn="l" rtl="0">
              <a:spcBef>
                <a:spcPts val="1600"/>
              </a:spcBef>
              <a:spcAft>
                <a:spcPts val="1600"/>
              </a:spcAft>
              <a:buClr>
                <a:schemeClr val="dk2"/>
              </a:buClr>
              <a:buSzPts val="1100"/>
              <a:buNone/>
            </a:pPr>
            <a:endParaRPr/>
          </a:p>
        </p:txBody>
      </p:sp>
      <p:sp>
        <p:nvSpPr>
          <p:cNvPr id="94" name="Google Shape;94;p18"/>
          <p:cNvSpPr txBox="1">
            <a:spLocks noGrp="1"/>
          </p:cNvSpPr>
          <p:nvPr>
            <p:ph type="title"/>
          </p:nvPr>
        </p:nvSpPr>
        <p:spPr>
          <a:xfrm>
            <a:off x="251525" y="1577225"/>
            <a:ext cx="4045200" cy="131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Research</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p:nvPr/>
        </p:nvSpPr>
        <p:spPr>
          <a:xfrm>
            <a:off x="0" y="41850"/>
            <a:ext cx="9144000" cy="505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500" b="1">
                <a:solidFill>
                  <a:schemeClr val="dk1"/>
                </a:solidFill>
                <a:latin typeface="Roboto"/>
                <a:ea typeface="Roboto"/>
                <a:cs typeface="Roboto"/>
                <a:sym typeface="Roboto"/>
              </a:rPr>
              <a:t>The Benefits of Technology for Children</a:t>
            </a:r>
            <a:endParaRPr sz="2500" b="1">
              <a:solidFill>
                <a:schemeClr val="dk1"/>
              </a:solidFill>
              <a:latin typeface="Roboto"/>
              <a:ea typeface="Roboto"/>
              <a:cs typeface="Roboto"/>
              <a:sym typeface="Roboto"/>
            </a:endParaRPr>
          </a:p>
          <a:p>
            <a:pPr marL="0" lvl="0" indent="0" algn="ctr" rtl="0">
              <a:spcBef>
                <a:spcPts val="0"/>
              </a:spcBef>
              <a:spcAft>
                <a:spcPts val="0"/>
              </a:spcAft>
              <a:buNone/>
            </a:pPr>
            <a:endParaRPr sz="2500" b="1">
              <a:solidFill>
                <a:schemeClr val="dk1"/>
              </a:solidFill>
              <a:latin typeface="Roboto"/>
              <a:ea typeface="Roboto"/>
              <a:cs typeface="Roboto"/>
              <a:sym typeface="Roboto"/>
            </a:endParaRPr>
          </a:p>
          <a:p>
            <a:pPr marL="0" lvl="0" indent="0" algn="l" rtl="0">
              <a:spcBef>
                <a:spcPts val="0"/>
              </a:spcBef>
              <a:spcAft>
                <a:spcPts val="0"/>
              </a:spcAft>
              <a:buNone/>
            </a:pPr>
            <a:r>
              <a:rPr lang="en" sz="2000">
                <a:solidFill>
                  <a:schemeClr val="dk1"/>
                </a:solidFill>
                <a:latin typeface="Roboto"/>
                <a:ea typeface="Roboto"/>
                <a:cs typeface="Roboto"/>
                <a:sym typeface="Roboto"/>
              </a:rPr>
              <a:t>Technology is not all bad. Children are reading e-books, there are online phonics games that spark children's interest to learn, and interactive word games online can make literacy more engaging and motivating for children of all ages. </a:t>
            </a:r>
            <a:endParaRPr sz="2000">
              <a:solidFill>
                <a:schemeClr val="dk1"/>
              </a:solidFill>
              <a:latin typeface="Roboto"/>
              <a:ea typeface="Roboto"/>
              <a:cs typeface="Roboto"/>
              <a:sym typeface="Roboto"/>
            </a:endParaRPr>
          </a:p>
          <a:p>
            <a:pPr marL="0" lvl="0" indent="0" algn="l" rtl="0">
              <a:spcBef>
                <a:spcPts val="0"/>
              </a:spcBef>
              <a:spcAft>
                <a:spcPts val="0"/>
              </a:spcAft>
              <a:buNone/>
            </a:pPr>
            <a:endParaRPr sz="2000">
              <a:solidFill>
                <a:schemeClr val="dk1"/>
              </a:solidFill>
              <a:latin typeface="Roboto"/>
              <a:ea typeface="Roboto"/>
              <a:cs typeface="Roboto"/>
              <a:sym typeface="Roboto"/>
            </a:endParaRPr>
          </a:p>
          <a:p>
            <a:pPr marL="0" lvl="0" indent="0" algn="l" rtl="0">
              <a:spcBef>
                <a:spcPts val="0"/>
              </a:spcBef>
              <a:spcAft>
                <a:spcPts val="0"/>
              </a:spcAft>
              <a:buNone/>
            </a:pPr>
            <a:endParaRPr sz="2000">
              <a:solidFill>
                <a:schemeClr val="dk1"/>
              </a:solidFill>
              <a:latin typeface="Roboto"/>
              <a:ea typeface="Roboto"/>
              <a:cs typeface="Roboto"/>
              <a:sym typeface="Roboto"/>
            </a:endParaRPr>
          </a:p>
          <a:p>
            <a:pPr marL="0" lvl="0" indent="0" algn="l" rtl="0">
              <a:spcBef>
                <a:spcPts val="0"/>
              </a:spcBef>
              <a:spcAft>
                <a:spcPts val="0"/>
              </a:spcAft>
              <a:buNone/>
            </a:pPr>
            <a:r>
              <a:rPr lang="en" sz="2000">
                <a:solidFill>
                  <a:schemeClr val="dk1"/>
                </a:solidFill>
                <a:latin typeface="Roboto"/>
                <a:ea typeface="Roboto"/>
                <a:cs typeface="Roboto"/>
                <a:sym typeface="Roboto"/>
              </a:rPr>
              <a:t>The trick is to set an amount of time each day, ranging from fifteen to twenty minutes, for children to be online. When children are on their screens ALL DAY the excitement for learning decreases. </a:t>
            </a:r>
            <a:endParaRPr sz="2000">
              <a:solidFill>
                <a:schemeClr val="dk1"/>
              </a:solidFill>
              <a:latin typeface="Roboto"/>
              <a:ea typeface="Roboto"/>
              <a:cs typeface="Roboto"/>
              <a:sym typeface="Roboto"/>
            </a:endParaRPr>
          </a:p>
          <a:p>
            <a:pPr marL="0" lvl="0" indent="0" algn="l" rtl="0">
              <a:spcBef>
                <a:spcPts val="0"/>
              </a:spcBef>
              <a:spcAft>
                <a:spcPts val="0"/>
              </a:spcAft>
              <a:buNone/>
            </a:pPr>
            <a:endParaRPr sz="2000">
              <a:solidFill>
                <a:schemeClr val="dk1"/>
              </a:solidFill>
              <a:latin typeface="Roboto"/>
              <a:ea typeface="Roboto"/>
              <a:cs typeface="Roboto"/>
              <a:sym typeface="Roboto"/>
            </a:endParaRPr>
          </a:p>
          <a:p>
            <a:pPr marL="0" lvl="0" indent="0" algn="l" rtl="0">
              <a:spcBef>
                <a:spcPts val="0"/>
              </a:spcBef>
              <a:spcAft>
                <a:spcPts val="0"/>
              </a:spcAft>
              <a:buNone/>
            </a:pPr>
            <a:endParaRPr sz="2000">
              <a:solidFill>
                <a:schemeClr val="dk1"/>
              </a:solidFill>
              <a:latin typeface="Roboto"/>
              <a:ea typeface="Roboto"/>
              <a:cs typeface="Roboto"/>
              <a:sym typeface="Roboto"/>
            </a:endParaRPr>
          </a:p>
          <a:p>
            <a:pPr marL="0" lvl="0" indent="0" algn="l" rtl="0">
              <a:spcBef>
                <a:spcPts val="0"/>
              </a:spcBef>
              <a:spcAft>
                <a:spcPts val="0"/>
              </a:spcAft>
              <a:buNone/>
            </a:pPr>
            <a:endParaRPr sz="2000">
              <a:solidFill>
                <a:schemeClr val="dk1"/>
              </a:solidFill>
              <a:latin typeface="Roboto"/>
              <a:ea typeface="Roboto"/>
              <a:cs typeface="Roboto"/>
              <a:sym typeface="Roboto"/>
            </a:endParaRPr>
          </a:p>
        </p:txBody>
      </p:sp>
      <p:pic>
        <p:nvPicPr>
          <p:cNvPr id="100" name="Google Shape;100;p19"/>
          <p:cNvPicPr preferRelativeResize="0"/>
          <p:nvPr/>
        </p:nvPicPr>
        <p:blipFill>
          <a:blip r:embed="rId3">
            <a:alphaModFix/>
          </a:blip>
          <a:stretch>
            <a:fillRect/>
          </a:stretch>
        </p:blipFill>
        <p:spPr>
          <a:xfrm>
            <a:off x="6838875" y="3305575"/>
            <a:ext cx="2076525" cy="16093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0"/>
          <p:cNvSpPr/>
          <p:nvPr/>
        </p:nvSpPr>
        <p:spPr>
          <a:xfrm>
            <a:off x="0" y="0"/>
            <a:ext cx="9161100" cy="2484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0"/>
          <p:cNvSpPr txBox="1">
            <a:spLocks noGrp="1"/>
          </p:cNvSpPr>
          <p:nvPr>
            <p:ph type="title" idx="4294967295"/>
          </p:nvPr>
        </p:nvSpPr>
        <p:spPr>
          <a:xfrm>
            <a:off x="311700" y="372500"/>
            <a:ext cx="8520600" cy="73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chemeClr val="accent1"/>
                </a:solidFill>
              </a:rPr>
              <a:t>Language Development Activities</a:t>
            </a:r>
            <a:endParaRPr>
              <a:solidFill>
                <a:schemeClr val="accent1"/>
              </a:solidFill>
            </a:endParaRPr>
          </a:p>
        </p:txBody>
      </p:sp>
      <p:sp>
        <p:nvSpPr>
          <p:cNvPr id="107" name="Google Shape;107;p20"/>
          <p:cNvSpPr txBox="1">
            <a:spLocks noGrp="1"/>
          </p:cNvSpPr>
          <p:nvPr>
            <p:ph type="body" idx="4294967295"/>
          </p:nvPr>
        </p:nvSpPr>
        <p:spPr>
          <a:xfrm>
            <a:off x="164925" y="2672700"/>
            <a:ext cx="2177400" cy="4362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2100">
                <a:solidFill>
                  <a:schemeClr val="accent5"/>
                </a:solidFill>
              </a:rPr>
              <a:t>Supermarket Chats </a:t>
            </a:r>
            <a:endParaRPr sz="2100">
              <a:solidFill>
                <a:schemeClr val="accent5"/>
              </a:solidFill>
            </a:endParaRPr>
          </a:p>
        </p:txBody>
      </p:sp>
      <p:cxnSp>
        <p:nvCxnSpPr>
          <p:cNvPr id="108" name="Google Shape;108;p20"/>
          <p:cNvCxnSpPr/>
          <p:nvPr/>
        </p:nvCxnSpPr>
        <p:spPr>
          <a:xfrm>
            <a:off x="1118175" y="3613373"/>
            <a:ext cx="270900" cy="0"/>
          </a:xfrm>
          <a:prstGeom prst="straightConnector1">
            <a:avLst/>
          </a:prstGeom>
          <a:noFill/>
          <a:ln w="9525" cap="flat" cmpd="sng">
            <a:solidFill>
              <a:schemeClr val="lt2"/>
            </a:solidFill>
            <a:prstDash val="solid"/>
            <a:round/>
            <a:headEnd type="none" w="sm" len="sm"/>
            <a:tailEnd type="none" w="sm" len="sm"/>
          </a:ln>
        </p:spPr>
      </p:cxnSp>
      <p:sp>
        <p:nvSpPr>
          <p:cNvPr id="109" name="Google Shape;109;p20"/>
          <p:cNvSpPr txBox="1">
            <a:spLocks noGrp="1"/>
          </p:cNvSpPr>
          <p:nvPr>
            <p:ph type="body" idx="4294967295"/>
          </p:nvPr>
        </p:nvSpPr>
        <p:spPr>
          <a:xfrm>
            <a:off x="164925" y="3641650"/>
            <a:ext cx="2695500" cy="137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a:t>While you are pushing your toddler in the shopping, cart,talk to them, named the item you placing in the cart.</a:t>
            </a:r>
            <a:endParaRPr sz="1400"/>
          </a:p>
        </p:txBody>
      </p:sp>
      <p:sp>
        <p:nvSpPr>
          <p:cNvPr id="110" name="Google Shape;110;p20"/>
          <p:cNvSpPr txBox="1">
            <a:spLocks noGrp="1"/>
          </p:cNvSpPr>
          <p:nvPr>
            <p:ph type="body" idx="4294967295"/>
          </p:nvPr>
        </p:nvSpPr>
        <p:spPr>
          <a:xfrm>
            <a:off x="3327809" y="2672712"/>
            <a:ext cx="2177400" cy="4362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2100">
                <a:solidFill>
                  <a:schemeClr val="accent5"/>
                </a:solidFill>
              </a:rPr>
              <a:t>Talking &amp; Travel</a:t>
            </a:r>
            <a:endParaRPr sz="2100">
              <a:solidFill>
                <a:schemeClr val="accent5"/>
              </a:solidFill>
            </a:endParaRPr>
          </a:p>
        </p:txBody>
      </p:sp>
      <p:cxnSp>
        <p:nvCxnSpPr>
          <p:cNvPr id="111" name="Google Shape;111;p20"/>
          <p:cNvCxnSpPr/>
          <p:nvPr/>
        </p:nvCxnSpPr>
        <p:spPr>
          <a:xfrm>
            <a:off x="3327800" y="3613373"/>
            <a:ext cx="270900" cy="0"/>
          </a:xfrm>
          <a:prstGeom prst="straightConnector1">
            <a:avLst/>
          </a:prstGeom>
          <a:noFill/>
          <a:ln w="9525" cap="flat" cmpd="sng">
            <a:solidFill>
              <a:schemeClr val="lt2"/>
            </a:solidFill>
            <a:prstDash val="solid"/>
            <a:round/>
            <a:headEnd type="none" w="sm" len="sm"/>
            <a:tailEnd type="none" w="sm" len="sm"/>
          </a:ln>
        </p:spPr>
      </p:cxnSp>
      <p:sp>
        <p:nvSpPr>
          <p:cNvPr id="112" name="Google Shape;112;p20"/>
          <p:cNvSpPr txBox="1">
            <a:spLocks noGrp="1"/>
          </p:cNvSpPr>
          <p:nvPr>
            <p:ph type="body" idx="4294967295"/>
          </p:nvPr>
        </p:nvSpPr>
        <p:spPr>
          <a:xfrm>
            <a:off x="3479363" y="3565472"/>
            <a:ext cx="2177400" cy="1501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600"/>
              </a:spcAft>
              <a:buNone/>
            </a:pPr>
            <a:r>
              <a:rPr lang="en" sz="1400"/>
              <a:t>Long trip: talk, talk and chat away with your children. Instead  of swiping, ask your child about the scenery or play ISpy.</a:t>
            </a:r>
            <a:endParaRPr sz="1100"/>
          </a:p>
        </p:txBody>
      </p:sp>
      <p:sp>
        <p:nvSpPr>
          <p:cNvPr id="113" name="Google Shape;113;p20"/>
          <p:cNvSpPr txBox="1">
            <a:spLocks noGrp="1"/>
          </p:cNvSpPr>
          <p:nvPr>
            <p:ph type="body" idx="4294967295"/>
          </p:nvPr>
        </p:nvSpPr>
        <p:spPr>
          <a:xfrm>
            <a:off x="6442855" y="2672700"/>
            <a:ext cx="2177400" cy="4362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2100">
                <a:solidFill>
                  <a:schemeClr val="accent5"/>
                </a:solidFill>
              </a:rPr>
              <a:t>Singing a Song</a:t>
            </a:r>
            <a:endParaRPr sz="2100">
              <a:solidFill>
                <a:schemeClr val="accent5"/>
              </a:solidFill>
            </a:endParaRPr>
          </a:p>
        </p:txBody>
      </p:sp>
      <p:cxnSp>
        <p:nvCxnSpPr>
          <p:cNvPr id="114" name="Google Shape;114;p20"/>
          <p:cNvCxnSpPr/>
          <p:nvPr/>
        </p:nvCxnSpPr>
        <p:spPr>
          <a:xfrm>
            <a:off x="5554075" y="3613373"/>
            <a:ext cx="270900" cy="0"/>
          </a:xfrm>
          <a:prstGeom prst="straightConnector1">
            <a:avLst/>
          </a:prstGeom>
          <a:noFill/>
          <a:ln w="9525" cap="flat" cmpd="sng">
            <a:solidFill>
              <a:schemeClr val="lt2"/>
            </a:solidFill>
            <a:prstDash val="solid"/>
            <a:round/>
            <a:headEnd type="none" w="sm" len="sm"/>
            <a:tailEnd type="none" w="sm" len="sm"/>
          </a:ln>
        </p:spPr>
      </p:cxnSp>
      <p:sp>
        <p:nvSpPr>
          <p:cNvPr id="115" name="Google Shape;115;p20"/>
          <p:cNvSpPr txBox="1">
            <a:spLocks noGrp="1"/>
          </p:cNvSpPr>
          <p:nvPr>
            <p:ph type="body" idx="4294967295"/>
          </p:nvPr>
        </p:nvSpPr>
        <p:spPr>
          <a:xfrm>
            <a:off x="6275625" y="3613375"/>
            <a:ext cx="2767500" cy="137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Singing with your child, 0-5, will help them develop their vocabulary skills through rhyming.</a:t>
            </a:r>
            <a:endParaRPr sz="1400"/>
          </a:p>
          <a:p>
            <a:pPr marL="0" lvl="0" indent="0" algn="l" rtl="0">
              <a:spcBef>
                <a:spcPts val="1600"/>
              </a:spcBef>
              <a:spcAft>
                <a:spcPts val="0"/>
              </a:spcAft>
              <a:buNone/>
            </a:pPr>
            <a:endParaRPr sz="1100"/>
          </a:p>
          <a:p>
            <a:pPr marL="0" lvl="0" indent="0" algn="l" rtl="0">
              <a:spcBef>
                <a:spcPts val="1600"/>
              </a:spcBef>
              <a:spcAft>
                <a:spcPts val="0"/>
              </a:spcAft>
              <a:buNone/>
            </a:pPr>
            <a:endParaRPr sz="1100"/>
          </a:p>
          <a:p>
            <a:pPr marL="0" lvl="0" indent="0" algn="l" rtl="0">
              <a:spcBef>
                <a:spcPts val="1600"/>
              </a:spcBef>
              <a:spcAft>
                <a:spcPts val="0"/>
              </a:spcAft>
              <a:buNone/>
            </a:pPr>
            <a:endParaRPr sz="1100"/>
          </a:p>
          <a:p>
            <a:pPr marL="0" lvl="0" indent="0" algn="l" rtl="0">
              <a:spcBef>
                <a:spcPts val="1600"/>
              </a:spcBef>
              <a:spcAft>
                <a:spcPts val="0"/>
              </a:spcAft>
              <a:buNone/>
            </a:pPr>
            <a:r>
              <a:rPr lang="en" sz="1100"/>
              <a:t>Singing with your 0-5 year old is a fun way to share special time with your child while you boost their vocabularies and help them to get to know the rhythms of language.</a:t>
            </a:r>
            <a:endParaRPr sz="1100"/>
          </a:p>
          <a:p>
            <a:pPr marL="0" lvl="0" indent="0" algn="ctr" rtl="0">
              <a:spcBef>
                <a:spcPts val="1600"/>
              </a:spcBef>
              <a:spcAft>
                <a:spcPts val="0"/>
              </a:spcAft>
              <a:buNone/>
            </a:pPr>
            <a:endParaRPr sz="1100"/>
          </a:p>
          <a:p>
            <a:pPr marL="0" lvl="0" indent="0" algn="ctr" rtl="0">
              <a:spcBef>
                <a:spcPts val="1600"/>
              </a:spcBef>
              <a:spcAft>
                <a:spcPts val="0"/>
              </a:spcAft>
              <a:buNone/>
            </a:pPr>
            <a:endParaRPr sz="1100"/>
          </a:p>
          <a:p>
            <a:pPr marL="0" lvl="0" indent="0" algn="ctr" rtl="0">
              <a:spcBef>
                <a:spcPts val="1600"/>
              </a:spcBef>
              <a:spcAft>
                <a:spcPts val="0"/>
              </a:spcAft>
              <a:buNone/>
            </a:pPr>
            <a:endParaRPr sz="1100"/>
          </a:p>
          <a:p>
            <a:pPr marL="0" lvl="0" indent="0" algn="ctr" rtl="0">
              <a:spcBef>
                <a:spcPts val="1600"/>
              </a:spcBef>
              <a:spcAft>
                <a:spcPts val="1600"/>
              </a:spcAft>
              <a:buNone/>
            </a:pPr>
            <a:r>
              <a:rPr lang="en" sz="1100"/>
              <a:t>Singing with your 0-5 year old is a fun way to share special time with your child while you boost their vocabularies and help them to get to know the rhythms of language.</a:t>
            </a:r>
            <a:endParaRPr sz="1100"/>
          </a:p>
        </p:txBody>
      </p:sp>
      <p:cxnSp>
        <p:nvCxnSpPr>
          <p:cNvPr id="116" name="Google Shape;116;p20"/>
          <p:cNvCxnSpPr/>
          <p:nvPr/>
        </p:nvCxnSpPr>
        <p:spPr>
          <a:xfrm>
            <a:off x="7747050" y="3613373"/>
            <a:ext cx="270900" cy="0"/>
          </a:xfrm>
          <a:prstGeom prst="straightConnector1">
            <a:avLst/>
          </a:prstGeom>
          <a:noFill/>
          <a:ln w="9525" cap="flat" cmpd="sng">
            <a:solidFill>
              <a:schemeClr val="lt2"/>
            </a:solidFill>
            <a:prstDash val="solid"/>
            <a:round/>
            <a:headEnd type="none" w="sm" len="sm"/>
            <a:tailEnd type="none" w="sm" len="sm"/>
          </a:ln>
        </p:spPr>
      </p:cxnSp>
      <p:pic>
        <p:nvPicPr>
          <p:cNvPr id="117" name="Google Shape;117;p20" descr="HD wallpaper: baby on white shopping cart, shallow focus ..."/>
          <p:cNvPicPr preferRelativeResize="0"/>
          <p:nvPr/>
        </p:nvPicPr>
        <p:blipFill>
          <a:blip r:embed="rId3">
            <a:alphaModFix/>
          </a:blip>
          <a:stretch>
            <a:fillRect/>
          </a:stretch>
        </p:blipFill>
        <p:spPr>
          <a:xfrm>
            <a:off x="604473" y="1340962"/>
            <a:ext cx="1644274" cy="1096784"/>
          </a:xfrm>
          <a:prstGeom prst="rect">
            <a:avLst/>
          </a:prstGeom>
          <a:noFill/>
          <a:ln>
            <a:noFill/>
          </a:ln>
        </p:spPr>
      </p:pic>
      <p:pic>
        <p:nvPicPr>
          <p:cNvPr id="118" name="Google Shape;118;p20" descr="Car rides. | Rafael Castillo | Flickr"/>
          <p:cNvPicPr preferRelativeResize="0"/>
          <p:nvPr/>
        </p:nvPicPr>
        <p:blipFill>
          <a:blip r:embed="rId4">
            <a:alphaModFix/>
          </a:blip>
          <a:stretch>
            <a:fillRect/>
          </a:stretch>
        </p:blipFill>
        <p:spPr>
          <a:xfrm>
            <a:off x="3594363" y="1314175"/>
            <a:ext cx="1644275" cy="1150340"/>
          </a:xfrm>
          <a:prstGeom prst="rect">
            <a:avLst/>
          </a:prstGeom>
          <a:noFill/>
          <a:ln>
            <a:noFill/>
          </a:ln>
        </p:spPr>
      </p:pic>
      <p:pic>
        <p:nvPicPr>
          <p:cNvPr id="119" name="Google Shape;119;p20" descr="HD wallpaper: adorable, kid, singing, gospel, church, african ..."/>
          <p:cNvPicPr preferRelativeResize="0"/>
          <p:nvPr/>
        </p:nvPicPr>
        <p:blipFill>
          <a:blip r:embed="rId5">
            <a:alphaModFix/>
          </a:blip>
          <a:stretch>
            <a:fillRect/>
          </a:stretch>
        </p:blipFill>
        <p:spPr>
          <a:xfrm>
            <a:off x="6584263" y="1189200"/>
            <a:ext cx="1644299" cy="1096790"/>
          </a:xfrm>
          <a:prstGeom prst="rect">
            <a:avLst/>
          </a:prstGeom>
          <a:noFill/>
          <a:ln>
            <a:noFill/>
          </a:ln>
        </p:spPr>
      </p:pic>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524</Words>
  <Application>Microsoft Office PowerPoint</Application>
  <PresentationFormat>On-screen Show (16:9)</PresentationFormat>
  <Paragraphs>48</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Roboto</vt:lpstr>
      <vt:lpstr>Roboto Slab</vt:lpstr>
      <vt:lpstr>Marina</vt:lpstr>
      <vt:lpstr>Less Tech, More Talk</vt:lpstr>
      <vt:lpstr>The Destruction of Language Development</vt:lpstr>
      <vt:lpstr>Why is language development important?</vt:lpstr>
      <vt:lpstr>PowerPoint Presentation</vt:lpstr>
      <vt:lpstr>Toddlers who are swiping instead of talking, grow up  to be children and teenagers who are too distracted to read books.   If youth are not reading, they are not developing reading comprehension skills such as making inference, understanding the main ideas and the supporting details, and summarizing text.   To make matters worse,  too much technology limits youth’s critical thinking skills leading to the literacy gap in youth.</vt:lpstr>
      <vt:lpstr>Research</vt:lpstr>
      <vt:lpstr>PowerPoint Presentation</vt:lpstr>
      <vt:lpstr>Language Development Activities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Surface</dc:creator>
  <cp:lastModifiedBy>Martine Thomas-Fox</cp:lastModifiedBy>
  <cp:revision>1</cp:revision>
  <dcterms:modified xsi:type="dcterms:W3CDTF">2025-05-06T15:36:37Z</dcterms:modified>
</cp:coreProperties>
</file>